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sldIdLst>
    <p:sldId id="256" r:id="rId3"/>
    <p:sldId id="257" r:id="rId5"/>
    <p:sldId id="258" r:id="rId6"/>
    <p:sldId id="259" r:id="rId7"/>
    <p:sldId id="260" r:id="rId8"/>
    <p:sldId id="272" r:id="rId9"/>
    <p:sldId id="262" r:id="rId10"/>
    <p:sldId id="266" r:id="rId11"/>
    <p:sldId id="267" r:id="rId12"/>
    <p:sldId id="265" r:id="rId13"/>
    <p:sldId id="264" r:id="rId14"/>
    <p:sldId id="268" r:id="rId15"/>
    <p:sldId id="270" r:id="rId16"/>
    <p:sldId id="271" r:id="rId17"/>
  </p:sldIdLst>
  <p:sldSz cx="12192000" cy="6858000"/>
  <p:notesSz cx="68580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0" Type="http://schemas.openxmlformats.org/officeDocument/2006/relationships/tableStyles" Target="tableStyles.xml"/><Relationship Id="rId2" Type="http://schemas.openxmlformats.org/officeDocument/2006/relationships/theme" Target="theme/theme1.xml"/><Relationship Id="rId19" Type="http://schemas.openxmlformats.org/officeDocument/2006/relationships/viewProps" Target="viewProps.xml"/><Relationship Id="rId18" Type="http://schemas.openxmlformats.org/officeDocument/2006/relationships/presProps" Target="presProps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  <p:sp>
        <p:nvSpPr>
          <p:cNvPr id="2" name="Header Placeholder"/>
          <p:cNvSpPr/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Slide Image Placeholder 1"/>
          <p:cNvSpPr>
            <a:spLocks noGrp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/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/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>
  <p:cSld name="Title Slide">
    <p:spTree>
      <p:nvGrpSpPr>
        <p:cNvPr id="1" name=""/>
        <p:cNvGrpSpPr/>
        <p:nvPr/>
      </p:nvGrpSpPr>
      <p:grpSpPr/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txStyles>
    <p:titleStyle>
      <a:lvl1pPr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png"/></Relationships>
</file>

<file path=ppt/slides/_rels/slide5.xml.rels><?xml version="1.0" encoding="UTF-8" standalone="yes"?>
<Relationships xmlns="http://schemas.openxmlformats.org/package/2006/relationships"><Relationship Id="rId4" Type="http://schemas.openxmlformats.org/officeDocument/2006/relationships/notesSlide" Target="../notesSlides/notesSlide5.xml"/><Relationship Id="rId3" Type="http://schemas.openxmlformats.org/officeDocument/2006/relationships/slideLayout" Target="../slideLayouts/slideLayout1.xml"/><Relationship Id="rId2" Type="http://schemas.openxmlformats.org/officeDocument/2006/relationships/image" Target="../media/image3.png"/><Relationship Id="rId1" Type="http://schemas.openxmlformats.org/officeDocument/2006/relationships/image" Target="../media/image2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4.png"/></Relationships>
</file>

<file path=ppt/slides/_rels/slide7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7.xml"/><Relationship Id="rId4" Type="http://schemas.openxmlformats.org/officeDocument/2006/relationships/slideLayout" Target="../slideLayouts/slideLayout1.xml"/><Relationship Id="rId3" Type="http://schemas.openxmlformats.org/officeDocument/2006/relationships/image" Target="../media/image7.png"/><Relationship Id="rId2" Type="http://schemas.openxmlformats.org/officeDocument/2006/relationships/image" Target="../media/image6.png"/><Relationship Id="rId1" Type="http://schemas.openxmlformats.org/officeDocument/2006/relationships/image" Target="../media/image5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8.png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6" name="椭圆 45"/>
          <p:cNvSpPr>
            <a:spLocks noGrp="1"/>
          </p:cNvSpPr>
          <p:nvPr/>
        </p:nvSpPr>
        <p:spPr>
          <a:xfrm>
            <a:off x="2762250" y="1047750"/>
            <a:ext cx="6667500" cy="6667500"/>
          </a:xfrm>
          <a:prstGeom prst="ellipse">
            <a:avLst/>
          </a:prstGeom>
          <a:solidFill>
            <a:srgbClr val="C4B5FD">
              <a:alpha val="12000"/>
            </a:srgbClr>
          </a:solidFill>
          <a:ln w="0">
            <a:noFill/>
            <a:prstDash val="solid"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C4B5F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FFFFFF">
                    <a:alpha val="55000"/>
                  </a:srgbClr>
                </a:solidFill>
              </a:defRPr>
            </a:pPr>
            <a:r>
              <a:rPr sz="825" b="1">
                <a:solidFill>
                  <a:srgbClr val="FFFFFF">
                    <a:alpha val="55000"/>
                  </a:srgbClr>
                </a:solidFill>
              </a:rPr>
              <a:t>DAILYFLOW  ·  TODO  NOTES  MINDMAP  AI  ·  LOCAL-FIRST  ·  ROADSHOW 2026</a:t>
            </a:r>
            <a:endParaRPr sz="825" b="1">
              <a:solidFill>
                <a:srgbClr val="FFFFFF">
                  <a:alpha val="55000"/>
                </a:srgbClr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FFFFFF">
                    <a:alpha val="40000"/>
                  </a:srgbClr>
                </a:solidFill>
              </a:defRPr>
            </a:pPr>
            <a:r>
              <a:rPr sz="750" b="1">
                <a:solidFill>
                  <a:srgbClr val="FFFFFF">
                    <a:alpha val="40000"/>
                  </a:srgbClr>
                </a:solidFill>
              </a:rPr>
              <a:t>DAILYFLOW · 2026</a:t>
            </a:r>
            <a:endParaRPr sz="750" b="1">
              <a:solidFill>
                <a:srgbClr val="FFFFFF">
                  <a:alpha val="40000"/>
                </a:srgbClr>
              </a:solidFill>
            </a:endParaRPr>
          </a:p>
        </p:txBody>
      </p:sp>
      <p:sp>
        <p:nvSpPr>
          <p:cNvPr id="5" name="圆角矩形 4"/>
          <p:cNvSpPr>
            <a:spLocks noGrp="1"/>
          </p:cNvSpPr>
          <p:nvPr/>
        </p:nvSpPr>
        <p:spPr>
          <a:xfrm>
            <a:off x="839470" y="1162050"/>
            <a:ext cx="2326640" cy="3784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839470" y="1233805"/>
            <a:ext cx="2326640" cy="378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C4B5FD"/>
                </a:solidFill>
              </a:defRPr>
            </a:pPr>
            <a:r>
              <a:rPr sz="950" b="1">
                <a:solidFill>
                  <a:srgbClr val="C4B5FD"/>
                </a:solidFill>
              </a:rPr>
              <a:t>待办 · 笔记 · 脑图 · AI</a:t>
            </a:r>
            <a:endParaRPr sz="950" b="1">
              <a:solidFill>
                <a:srgbClr val="C4B5FD"/>
              </a:solidFill>
            </a:endParaRPr>
          </a:p>
        </p:txBody>
      </p:sp>
      <p:sp>
        <p:nvSpPr>
          <p:cNvPr id="7" name="圆角矩形 6"/>
          <p:cNvSpPr>
            <a:spLocks noGrp="1"/>
          </p:cNvSpPr>
          <p:nvPr/>
        </p:nvSpPr>
        <p:spPr>
          <a:xfrm>
            <a:off x="3472815" y="1162050"/>
            <a:ext cx="2326640" cy="3784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8" name="矩形 7"/>
          <p:cNvSpPr>
            <a:spLocks noGrp="1"/>
          </p:cNvSpPr>
          <p:nvPr/>
        </p:nvSpPr>
        <p:spPr>
          <a:xfrm>
            <a:off x="3472815" y="1233805"/>
            <a:ext cx="2326640" cy="378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C4B5FD"/>
                </a:solidFill>
              </a:defRPr>
            </a:pPr>
            <a:r>
              <a:rPr sz="950" b="1">
                <a:solidFill>
                  <a:srgbClr val="C4B5FD"/>
                </a:solidFill>
              </a:rPr>
              <a:t>本地优先 · LOCAL-FIRST</a:t>
            </a:r>
            <a:endParaRPr sz="950" b="1">
              <a:solidFill>
                <a:srgbClr val="C4B5FD"/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130925" y="1162050"/>
            <a:ext cx="2326640" cy="378460"/>
          </a:xfrm>
          <a:prstGeom prst="roundRect">
            <a:avLst>
              <a:gd name="adj" fmla="val 50000"/>
            </a:avLst>
          </a:prstGeom>
          <a:noFill/>
          <a:ln w="9525">
            <a:solidFill>
              <a:srgbClr val="C4B5FD">
                <a:alpha val="50000"/>
              </a:srgbClr>
            </a:solidFill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130925" y="1233805"/>
            <a:ext cx="2326640" cy="37846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 b="1">
                <a:solidFill>
                  <a:srgbClr val="C4B5FD"/>
                </a:solidFill>
              </a:defRPr>
            </a:pPr>
            <a:r>
              <a:rPr lang="zh-CN" sz="950" b="1">
                <a:solidFill>
                  <a:srgbClr val="C4B5FD"/>
                </a:solidFill>
              </a:rPr>
              <a:t>开源开放</a:t>
            </a:r>
            <a:endParaRPr lang="zh-CN" sz="950" b="1">
              <a:solidFill>
                <a:srgbClr val="C4B5FD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9470" y="1828800"/>
            <a:ext cx="72390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00" b="1">
                <a:solidFill>
                  <a:srgbClr val="FFFFFF"/>
                </a:solidFill>
              </a:defRPr>
            </a:pPr>
            <a:r>
              <a:rPr sz="6300" b="1">
                <a:solidFill>
                  <a:srgbClr val="FFFFFF"/>
                </a:solidFill>
              </a:rPr>
              <a:t>DailyFlow</a:t>
            </a:r>
            <a:endParaRPr sz="6300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982980" y="3068955"/>
            <a:ext cx="723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4200" b="1">
                <a:solidFill>
                  <a:srgbClr val="FFFFFF"/>
                </a:solidFill>
              </a:defRPr>
            </a:pPr>
            <a:r>
              <a:rPr sz="4200" b="1">
                <a:solidFill>
                  <a:srgbClr val="FFFFFF"/>
                </a:solidFill>
              </a:rPr>
              <a:t>你的个人</a:t>
            </a:r>
            <a:endParaRPr sz="4200" b="1">
              <a:solidFill>
                <a:srgbClr val="FFFFFF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3503295" y="2924810"/>
            <a:ext cx="72390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5400" b="1">
                <a:solidFill>
                  <a:srgbClr val="C4B5FD"/>
                </a:solidFill>
              </a:defRPr>
            </a:pPr>
            <a:r>
              <a:rPr sz="5400" b="1">
                <a:solidFill>
                  <a:srgbClr val="C4B5FD"/>
                </a:solidFill>
              </a:rPr>
              <a:t>AI 资产基地.</a:t>
            </a:r>
            <a:endParaRPr sz="5400" b="1">
              <a:solidFill>
                <a:srgbClr val="C4B5FD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839470" y="4229100"/>
            <a:ext cx="7239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i="1">
                <a:solidFill>
                  <a:srgbClr val="FFFFFF">
                    <a:alpha val="55000"/>
                  </a:srgbClr>
                </a:solidFill>
              </a:defRPr>
            </a:pPr>
            <a:r>
              <a:rPr sz="1350" i="1">
                <a:solidFill>
                  <a:srgbClr val="FFFFFF">
                    <a:alpha val="55000"/>
                  </a:srgbClr>
                </a:solidFill>
              </a:rPr>
              <a:t>Your personal AI asset base.</a:t>
            </a:r>
            <a:endParaRPr sz="1350" i="1">
              <a:solidFill>
                <a:srgbClr val="FFFFFF">
                  <a:alpha val="55000"/>
                </a:srgbClr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839470" y="4591050"/>
            <a:ext cx="7620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FFFFFF">
                    <a:alpha val="75000"/>
                  </a:srgbClr>
                </a:solidFill>
              </a:defRPr>
            </a:pPr>
            <a:r>
              <a:rPr sz="1080">
                <a:solidFill>
                  <a:srgbClr val="FFFFFF">
                    <a:alpha val="75000"/>
                  </a:srgbClr>
                </a:solidFill>
              </a:rPr>
              <a:t>一个 AI 工作台：待办、笔记、脑图、日历，加上帮你整理和记忆的 AI。所有数据存在你自己的文件里——用得越久，它越懂你，这份积累就是你的资产。</a:t>
            </a:r>
            <a:endParaRPr sz="1080">
              <a:solidFill>
                <a:srgbClr val="FFFFFF">
                  <a:alpha val="75000"/>
                </a:srgbClr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839470" y="5648960"/>
            <a:ext cx="9525" cy="381000"/>
          </a:xfrm>
          <a:prstGeom prst="rect">
            <a:avLst/>
          </a:prstGeom>
          <a:solidFill>
            <a:srgbClr val="FFFFFF">
              <a:alpha val="15000"/>
            </a:srgbClr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1870" y="5629910"/>
            <a:ext cx="1905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macOS  ·  Win  ·  Linux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91870" y="5877560"/>
            <a:ext cx="190500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00" b="1">
                <a:solidFill>
                  <a:srgbClr val="FFFFFF">
                    <a:alpha val="40000"/>
                  </a:srgbClr>
                </a:solidFill>
              </a:defRPr>
            </a:pPr>
            <a:r>
              <a:rPr sz="600" b="1">
                <a:solidFill>
                  <a:srgbClr val="FFFFFF">
                    <a:alpha val="40000"/>
                  </a:srgbClr>
                </a:solidFill>
              </a:rPr>
              <a:t>PLATFORMS</a:t>
            </a:r>
            <a:endParaRPr sz="600" b="1">
              <a:solidFill>
                <a:srgbClr val="FFFFFF">
                  <a:alpha val="40000"/>
                </a:srgbClr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椭圆 24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01 — THE PROBLEM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THE PROBLEM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事情是这样散掉的。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How the workday falls apart.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762000" y="28765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01</a:t>
            </a:r>
            <a:endParaRPr sz="1050" b="1">
              <a:solidFill>
                <a:srgbClr val="94A3B8"/>
              </a:solidFill>
            </a:endParaRPr>
          </a:p>
        </p:txBody>
      </p:sp>
      <p:sp>
        <p:nvSpPr>
          <p:cNvPr id="9" name="矩形 8"/>
          <p:cNvSpPr>
            <a:spLocks noGrp="1"/>
          </p:cNvSpPr>
          <p:nvPr/>
        </p:nvSpPr>
        <p:spPr>
          <a:xfrm>
            <a:off x="1371600" y="28384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事情散在各处。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371600" y="32194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想法在微信里，会议在录音里，任务在脑子里——到了晚上，谁也不记得谁。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3619500"/>
            <a:ext cx="109728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38290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02</a:t>
            </a:r>
            <a:endParaRPr sz="1050" b="1">
              <a:solidFill>
                <a:srgbClr val="94A3B8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1371600" y="37909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工具要人伺候。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371600" y="41719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待办工具假设你自律：每天整理、每周归档。但你需要工具恰恰因为你不自律——三个月，系统就长满杂草。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09600" y="4572000"/>
            <a:ext cx="109728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62000" y="47815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94A3B8"/>
                </a:solidFill>
              </a:defRPr>
            </a:pPr>
            <a:r>
              <a:rPr sz="1050" b="1">
                <a:solidFill>
                  <a:srgbClr val="94A3B8"/>
                </a:solidFill>
              </a:rPr>
              <a:t>03</a:t>
            </a:r>
            <a:endParaRPr sz="1050" b="1">
              <a:solidFill>
                <a:srgbClr val="94A3B8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1371600" y="4743450"/>
            <a:ext cx="95250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AI 聊完就忘。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371600" y="5124450"/>
            <a:ext cx="9525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>
                <a:solidFill>
                  <a:srgbClr val="475569"/>
                </a:solidFill>
              </a:defRPr>
            </a:pPr>
            <a:r>
              <a:rPr sz="1050">
                <a:solidFill>
                  <a:srgbClr val="475569"/>
                </a:solidFill>
              </a:rPr>
              <a:t>云端助手每次对话从零开始。你教它的偏好、告诉它的背景，散场就没了。</a:t>
            </a:r>
            <a:endParaRPr sz="1050">
              <a:solidFill>
                <a:srgbClr val="475569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609600" y="5524500"/>
            <a:ext cx="10972800" cy="9525"/>
          </a:xfrm>
          <a:prstGeom prst="rect">
            <a:avLst/>
          </a:prstGeom>
          <a:solidFill>
            <a:srgbClr val="E2E8F0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90550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90600" y="58293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D28D9"/>
                </a:solidFill>
              </a:defRPr>
            </a:pPr>
            <a:r>
              <a:rPr sz="1125">
                <a:solidFill>
                  <a:srgbClr val="0F172A"/>
                </a:solidFill>
              </a:rPr>
              <a:t>散掉的不是任务，是</a:t>
            </a:r>
            <a:r>
              <a:rPr sz="1125" b="1">
                <a:solidFill>
                  <a:srgbClr val="6D28D9"/>
                </a:solidFill>
              </a:rPr>
              <a:t>上下文</a:t>
            </a:r>
            <a:r>
              <a:rPr sz="1125">
                <a:solidFill>
                  <a:srgbClr val="0F172A"/>
                </a:solidFill>
              </a:rPr>
              <a:t>——而它本该是能攒下来的东西。</a:t>
            </a:r>
            <a:endParaRPr sz="1125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0" name="椭圆 39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02 — THE LOOP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THE LOOP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lang="en-US" sz="2850" b="1">
                <a:solidFill>
                  <a:srgbClr val="0F172A"/>
                </a:solidFill>
              </a:rPr>
              <a:t>DailyFlow：</a:t>
            </a:r>
            <a:r>
              <a:rPr sz="2850" b="1">
                <a:solidFill>
                  <a:srgbClr val="0F172A"/>
                </a:solidFill>
              </a:rPr>
              <a:t>把散掉的工作闭合成一个循环。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What DailyFlow does: close the loop.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09600" y="2762250"/>
            <a:ext cx="2571750" cy="209550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圆角矩形 8"/>
          <p:cNvSpPr>
            <a:spLocks noGrp="1"/>
          </p:cNvSpPr>
          <p:nvPr/>
        </p:nvSpPr>
        <p:spPr>
          <a:xfrm>
            <a:off x="762000" y="289560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62000" y="28956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01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62000" y="323850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收集</a:t>
            </a:r>
            <a:endParaRPr sz="2100" b="1">
              <a:solidFill>
                <a:srgbClr val="0F172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62000" y="3733800"/>
            <a:ext cx="266700" cy="190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762000" y="38862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Inbox 随手记、笔记、会议录音（本地转写），先进来再说。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14" name="右箭头 13"/>
          <p:cNvSpPr>
            <a:spLocks noGrp="1"/>
          </p:cNvSpPr>
          <p:nvPr/>
        </p:nvSpPr>
        <p:spPr>
          <a:xfrm>
            <a:off x="3219450" y="3733800"/>
            <a:ext cx="15240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5" name="圆角矩形 14"/>
          <p:cNvSpPr>
            <a:spLocks noGrp="1"/>
          </p:cNvSpPr>
          <p:nvPr/>
        </p:nvSpPr>
        <p:spPr>
          <a:xfrm>
            <a:off x="3409950" y="2762250"/>
            <a:ext cx="2571750" cy="209550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6" name="圆角矩形 15"/>
          <p:cNvSpPr>
            <a:spLocks noGrp="1"/>
          </p:cNvSpPr>
          <p:nvPr/>
        </p:nvSpPr>
        <p:spPr>
          <a:xfrm>
            <a:off x="3562350" y="289560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3562350" y="28956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02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3562350" y="323850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整理</a:t>
            </a:r>
            <a:endParaRPr sz="210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3562350" y="3733800"/>
            <a:ext cx="266700" cy="190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3562350" y="38862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AI 帮你拆解：脑图节点一键变任务，会议内容变成行动项。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21" name="右箭头 20"/>
          <p:cNvSpPr>
            <a:spLocks noGrp="1"/>
          </p:cNvSpPr>
          <p:nvPr/>
        </p:nvSpPr>
        <p:spPr>
          <a:xfrm>
            <a:off x="6019800" y="3733800"/>
            <a:ext cx="15240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2" name="圆角矩形 21"/>
          <p:cNvSpPr>
            <a:spLocks noGrp="1"/>
          </p:cNvSpPr>
          <p:nvPr/>
        </p:nvSpPr>
        <p:spPr>
          <a:xfrm>
            <a:off x="6210300" y="2762250"/>
            <a:ext cx="2571750" cy="209550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3" name="圆角矩形 22"/>
          <p:cNvSpPr>
            <a:spLocks noGrp="1"/>
          </p:cNvSpPr>
          <p:nvPr/>
        </p:nvSpPr>
        <p:spPr>
          <a:xfrm>
            <a:off x="6362700" y="289560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6362700" y="28956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03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362700" y="323850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执行</a:t>
            </a:r>
            <a:endParaRPr sz="2100" b="1">
              <a:solidFill>
                <a:srgbClr val="0F172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362700" y="3733800"/>
            <a:ext cx="266700" cy="190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6362700" y="38862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Today 视图每天收敛到 1–3 件真正要推进的事，逾期自动浮现。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28" name="右箭头 27"/>
          <p:cNvSpPr>
            <a:spLocks noGrp="1"/>
          </p:cNvSpPr>
          <p:nvPr/>
        </p:nvSpPr>
        <p:spPr>
          <a:xfrm>
            <a:off x="8820150" y="3733800"/>
            <a:ext cx="152400" cy="133350"/>
          </a:xfrm>
          <a:prstGeom prst="rightArrow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9" name="圆角矩形 28"/>
          <p:cNvSpPr>
            <a:spLocks noGrp="1"/>
          </p:cNvSpPr>
          <p:nvPr/>
        </p:nvSpPr>
        <p:spPr>
          <a:xfrm>
            <a:off x="9010650" y="2762250"/>
            <a:ext cx="2571750" cy="2095500"/>
          </a:xfrm>
          <a:prstGeom prst="roundRect">
            <a:avLst>
              <a:gd name="adj" fmla="val 6364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0" name="圆角矩形 29"/>
          <p:cNvSpPr>
            <a:spLocks noGrp="1"/>
          </p:cNvSpPr>
          <p:nvPr/>
        </p:nvSpPr>
        <p:spPr>
          <a:xfrm>
            <a:off x="9163050" y="2895600"/>
            <a:ext cx="381000" cy="209550"/>
          </a:xfrm>
          <a:prstGeom prst="roundRect">
            <a:avLst>
              <a:gd name="adj" fmla="val 50000"/>
            </a:avLst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9163050" y="2895600"/>
            <a:ext cx="381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825" b="1">
                <a:solidFill>
                  <a:srgbClr val="FFFFFF"/>
                </a:solidFill>
              </a:defRPr>
            </a:pPr>
            <a:r>
              <a:rPr sz="825" b="1">
                <a:solidFill>
                  <a:srgbClr val="FFFFFF"/>
                </a:solidFill>
              </a:rPr>
              <a:t>04</a:t>
            </a:r>
            <a:endParaRPr sz="825" b="1">
              <a:solidFill>
                <a:srgbClr val="FFFFFF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163050" y="3238500"/>
            <a:ext cx="226695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100" b="1">
                <a:solidFill>
                  <a:srgbClr val="0F172A"/>
                </a:solidFill>
              </a:defRPr>
            </a:pPr>
            <a:r>
              <a:rPr sz="2100" b="1">
                <a:solidFill>
                  <a:srgbClr val="0F172A"/>
                </a:solidFill>
              </a:rPr>
              <a:t>复盘</a:t>
            </a:r>
            <a:endParaRPr sz="2100" b="1">
              <a:solidFill>
                <a:srgbClr val="0F172A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163050" y="3733800"/>
            <a:ext cx="266700" cy="190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163050" y="3886200"/>
            <a:ext cx="2266950" cy="914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475569"/>
                </a:solidFill>
              </a:defRPr>
            </a:pPr>
            <a:r>
              <a:rPr sz="975">
                <a:solidFill>
                  <a:srgbClr val="475569"/>
                </a:solidFill>
              </a:rPr>
              <a:t>日报周报自动生成，做完了什么、什么被推迟，全部存回文件。</a:t>
            </a:r>
            <a:endParaRPr sz="975">
              <a:solidFill>
                <a:srgbClr val="475569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541020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990600" y="533400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 b="1">
                <a:solidFill>
                  <a:srgbClr val="6D28D9"/>
                </a:solidFill>
              </a:defRPr>
            </a:pPr>
            <a:r>
              <a:rPr sz="1125">
                <a:solidFill>
                  <a:srgbClr val="0F172A"/>
                </a:solidFill>
              </a:rPr>
              <a:t>每一步的数据都落在你自己磁盘上的 </a:t>
            </a:r>
            <a:r>
              <a:rPr sz="1125" b="1">
                <a:solidFill>
                  <a:srgbClr val="6D28D9"/>
                </a:solidFill>
              </a:rPr>
              <a:t>Markdown 文件</a:t>
            </a:r>
            <a:r>
              <a:rPr sz="1125">
                <a:solidFill>
                  <a:srgbClr val="0F172A"/>
                </a:solidFill>
              </a:rPr>
              <a:t>里——循环每转一圈，积累就多一层。</a:t>
            </a:r>
            <a:endParaRPr sz="1125">
              <a:solidFill>
                <a:srgbClr val="0F172A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2" name="椭圆 31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03 — HIGHLIGHT 1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HIGHLIGHT 1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亮点一 · 从脑图到任务，不用重抄一遍。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From mindmap to task, no re-writing.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09600" y="2538095"/>
            <a:ext cx="5715000" cy="3429000"/>
          </a:xfrm>
          <a:prstGeom prst="roundRect">
            <a:avLst>
              <a:gd name="adj" fmla="val 2778"/>
            </a:avLst>
          </a:prstGeom>
          <a:solidFill>
            <a:srgbClr val="F8FAFC"/>
          </a:solidFill>
          <a:ln w="14288">
            <a:solidFill>
              <a:srgbClr val="CBD5E1"/>
            </a:solidFill>
            <a:prstDash val="dash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538095"/>
            <a:ext cx="28575" cy="34290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81050" y="2671445"/>
            <a:ext cx="537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MINDMAP  ·  1600 × 900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11" name="圆角矩形 10"/>
          <p:cNvSpPr>
            <a:spLocks noGrp="1"/>
          </p:cNvSpPr>
          <p:nvPr/>
        </p:nvSpPr>
        <p:spPr>
          <a:xfrm>
            <a:off x="2943225" y="3776345"/>
            <a:ext cx="1047750" cy="72390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9525">
            <a:solidFill>
              <a:srgbClr val="64748B"/>
            </a:solidFill>
            <a:prstDash val="dash"/>
          </a:ln>
        </p:spPr>
      </p:sp>
      <p:sp>
        <p:nvSpPr>
          <p:cNvPr id="12" name="矩形 11"/>
          <p:cNvSpPr>
            <a:spLocks noGrp="1"/>
          </p:cNvSpPr>
          <p:nvPr/>
        </p:nvSpPr>
        <p:spPr>
          <a:xfrm>
            <a:off x="2943225" y="3947795"/>
            <a:ext cx="1047750" cy="152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64748B"/>
                </a:solidFill>
              </a:defRPr>
            </a:pPr>
            <a:r>
              <a:rPr sz="675" b="1">
                <a:solidFill>
                  <a:srgbClr val="64748B"/>
                </a:solidFill>
              </a:rPr>
              <a:t>SCREENSHOT</a:t>
            </a:r>
            <a:endParaRPr sz="675" b="1">
              <a:solidFill>
                <a:srgbClr val="64748B"/>
              </a:solidFill>
            </a:endParaRPr>
          </a:p>
        </p:txBody>
      </p:sp>
      <p:sp>
        <p:nvSpPr>
          <p:cNvPr id="13" name="矩形 12"/>
          <p:cNvSpPr>
            <a:spLocks noGrp="1"/>
          </p:cNvSpPr>
          <p:nvPr/>
        </p:nvSpPr>
        <p:spPr>
          <a:xfrm>
            <a:off x="2943225" y="4138295"/>
            <a:ext cx="104775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0F172A"/>
                </a:solidFill>
              </a:defRPr>
            </a:pPr>
            <a:r>
              <a:rPr sz="750">
                <a:solidFill>
                  <a:srgbClr val="0F172A"/>
                </a:solidFill>
              </a:rPr>
              <a:t>在此插入截图</a:t>
            </a:r>
            <a:endParaRPr sz="750">
              <a:solidFill>
                <a:srgbClr val="0F172A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81050" y="5738495"/>
            <a:ext cx="53721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i="1">
                <a:solidFill>
                  <a:srgbClr val="94A3B8"/>
                </a:solidFill>
              </a:defRPr>
            </a:pPr>
            <a:r>
              <a:rPr sz="750" i="1">
                <a:solidFill>
                  <a:srgbClr val="94A3B8"/>
                </a:solidFill>
              </a:rPr>
              <a:t>建议：脑图节点 ≥ 6，至少 1 个 promoted-to-task。</a:t>
            </a:r>
            <a:endParaRPr sz="750" i="1">
              <a:solidFill>
                <a:srgbClr val="94A3B8"/>
              </a:solidFill>
            </a:endParaRPr>
          </a:p>
        </p:txBody>
      </p:sp>
      <p:sp>
        <p:nvSpPr>
          <p:cNvPr id="15" name="椭圆 14"/>
          <p:cNvSpPr>
            <a:spLocks noGrp="1"/>
          </p:cNvSpPr>
          <p:nvPr/>
        </p:nvSpPr>
        <p:spPr>
          <a:xfrm>
            <a:off x="7298690" y="2939415"/>
            <a:ext cx="266700" cy="2667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7298690" y="293941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1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7679690" y="2901315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一个模糊的想法，先在脑图上摊开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7679690" y="3244215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节点可以是疑问、资料、风险，不只是任务。</a:t>
            </a:r>
            <a:endParaRPr sz="900">
              <a:solidFill>
                <a:srgbClr val="475569"/>
              </a:solidFill>
            </a:endParaRPr>
          </a:p>
        </p:txBody>
      </p:sp>
      <p:sp>
        <p:nvSpPr>
          <p:cNvPr id="19" name="椭圆 18"/>
          <p:cNvSpPr>
            <a:spLocks noGrp="1"/>
          </p:cNvSpPr>
          <p:nvPr/>
        </p:nvSpPr>
        <p:spPr>
          <a:xfrm>
            <a:off x="7298690" y="3815715"/>
            <a:ext cx="266700" cy="2667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7298690" y="381571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2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7679690" y="3777615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AI 整理成结构，一键转任务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679690" y="4120515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想清楚的部分，节点一键转成任务，并与脑图保持关联。</a:t>
            </a:r>
            <a:endParaRPr sz="900">
              <a:solidFill>
                <a:srgbClr val="475569"/>
              </a:solidFill>
            </a:endParaRPr>
          </a:p>
        </p:txBody>
      </p:sp>
      <p:sp>
        <p:nvSpPr>
          <p:cNvPr id="23" name="椭圆 22"/>
          <p:cNvSpPr>
            <a:spLocks noGrp="1"/>
          </p:cNvSpPr>
          <p:nvPr/>
        </p:nvSpPr>
        <p:spPr>
          <a:xfrm>
            <a:off x="7298690" y="4692015"/>
            <a:ext cx="266700" cy="2667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98690" y="4692015"/>
            <a:ext cx="2667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900" b="1">
                <a:solidFill>
                  <a:srgbClr val="FFFFFF"/>
                </a:solidFill>
              </a:defRPr>
            </a:pPr>
            <a:r>
              <a:rPr sz="900" b="1">
                <a:solidFill>
                  <a:srgbClr val="FFFFFF"/>
                </a:solidFill>
              </a:rPr>
              <a:t>3</a:t>
            </a:r>
            <a:endParaRPr sz="900" b="1">
              <a:solidFill>
                <a:srgbClr val="FFFFFF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7679690" y="4653915"/>
            <a:ext cx="45720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00" b="1">
                <a:solidFill>
                  <a:srgbClr val="0F172A"/>
                </a:solidFill>
              </a:defRPr>
            </a:pPr>
            <a:r>
              <a:rPr sz="1200" b="1">
                <a:solidFill>
                  <a:srgbClr val="0F172A"/>
                </a:solidFill>
              </a:rPr>
              <a:t>任务进入</a:t>
            </a:r>
            <a:r>
              <a:rPr lang="en-US" sz="1200" b="1">
                <a:solidFill>
                  <a:srgbClr val="0F172A"/>
                </a:solidFill>
              </a:rPr>
              <a:t>Tasks</a:t>
            </a:r>
            <a:r>
              <a:rPr sz="1200" b="1">
                <a:solidFill>
                  <a:srgbClr val="0F172A"/>
                </a:solidFill>
              </a:rPr>
              <a:t>，结果自动回流</a:t>
            </a:r>
            <a:endParaRPr sz="1200" b="1">
              <a:solidFill>
                <a:srgbClr val="0F172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679690" y="4996815"/>
            <a:ext cx="4572000" cy="4191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475569"/>
                </a:solidFill>
              </a:defRPr>
            </a:pPr>
            <a:r>
              <a:rPr sz="900">
                <a:solidFill>
                  <a:srgbClr val="475569"/>
                </a:solidFill>
              </a:rPr>
              <a:t>执行结果回流到脑图，思考过程永远留在原地。</a:t>
            </a:r>
            <a:endParaRPr sz="900">
              <a:solidFill>
                <a:srgbClr val="475569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28650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0600" y="6210300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0F172A"/>
                </a:solidFill>
              </a:defRPr>
            </a:pPr>
            <a:r>
              <a:rPr sz="825">
                <a:solidFill>
                  <a:srgbClr val="0F172A"/>
                </a:solidFill>
              </a:rPr>
              <a:t>以前的工具里，"想"和"做"是两张皮：备忘录里想清楚的东西，抄成待办的那一刻就蒸发了。这是 DailyFlow 最不一样的地方。</a:t>
            </a:r>
            <a:endParaRPr sz="825">
              <a:solidFill>
                <a:srgbClr val="0F172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  <p:pic>
        <p:nvPicPr>
          <p:cNvPr id="33" name="图片 32" descr="0b529d8b-dc05-4ed1-bc48-3ac6a707a7c4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8175" y="2421255"/>
            <a:ext cx="6220460" cy="363093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8" name="椭圆 27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04 — HIGHLIGHT 2  ·  SOVEREIGN AI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HIGHLIGHT 2 ·</a:t>
            </a:r>
            <a:endParaRPr lang="en-US"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亮点二 · </a:t>
            </a:r>
            <a:r>
              <a:rPr lang="zh-CN" sz="2850" b="1">
                <a:solidFill>
                  <a:srgbClr val="0F172A"/>
                </a:solidFill>
              </a:rPr>
              <a:t>多种</a:t>
            </a:r>
            <a:r>
              <a:rPr lang="zh-CN" sz="2850" b="1">
                <a:solidFill>
                  <a:srgbClr val="0F172A"/>
                </a:solidFill>
              </a:rPr>
              <a:t>视图模式</a:t>
            </a:r>
            <a:r>
              <a:rPr lang="en-US" altLang="zh-CN" sz="2850" b="1">
                <a:solidFill>
                  <a:srgbClr val="0F172A"/>
                </a:solidFill>
              </a:rPr>
              <a:t>，</a:t>
            </a:r>
            <a:endParaRPr lang="en-US" altLang="zh-CN" sz="2850" b="1">
              <a:solidFill>
                <a:srgbClr val="0F172A"/>
              </a:solidFill>
            </a:endParaRPr>
          </a:p>
          <a:p>
            <a:pPr>
              <a:defRPr sz="2850" b="1">
                <a:solidFill>
                  <a:srgbClr val="0F172A"/>
                </a:solidFill>
              </a:defRPr>
            </a:pPr>
            <a:r>
              <a:rPr lang="zh-CN" altLang="en-US" sz="2850" b="1">
                <a:solidFill>
                  <a:srgbClr val="0F172A"/>
                </a:solidFill>
              </a:rPr>
              <a:t>配合你的每一天</a:t>
            </a:r>
            <a:r>
              <a:rPr lang="zh-CN" altLang="en-US" sz="2850" b="1">
                <a:solidFill>
                  <a:srgbClr val="0F172A"/>
                </a:solidFill>
              </a:rPr>
              <a:t>需求</a:t>
            </a:r>
            <a:endParaRPr lang="zh-CN" altLang="en-US"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95325" y="2564765"/>
            <a:ext cx="3472180" cy="2870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lang="en-US" sz="1050" i="1">
                <a:solidFill>
                  <a:srgbClr val="64748B"/>
                </a:solidFill>
              </a:rPr>
              <a:t>Multei view model, suit your daily routines</a:t>
            </a:r>
            <a:endParaRPr lang="en-US" sz="1050" i="1">
              <a:solidFill>
                <a:srgbClr val="64748B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  <p:pic>
        <p:nvPicPr>
          <p:cNvPr id="41" name="图片 40" descr="aa2ea4a1-32c3-45c3-b17a-ac04f97abb09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07035" y="3260090"/>
            <a:ext cx="4034155" cy="2872740"/>
          </a:xfrm>
          <a:prstGeom prst="rect">
            <a:avLst/>
          </a:prstGeom>
        </p:spPr>
      </p:pic>
      <p:pic>
        <p:nvPicPr>
          <p:cNvPr id="32" name="图片 3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871720" y="655320"/>
            <a:ext cx="6758305" cy="564261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圆角矩形 37"/>
          <p:cNvSpPr>
            <a:spLocks noGrp="1"/>
          </p:cNvSpPr>
          <p:nvPr/>
        </p:nvSpPr>
        <p:spPr>
          <a:xfrm>
            <a:off x="533400" y="3447415"/>
            <a:ext cx="3586480" cy="197294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2" name="椭圆 31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</a:t>
            </a:r>
            <a:r>
              <a:rPr lang="en-US" sz="825" b="1">
                <a:solidFill>
                  <a:srgbClr val="64748B"/>
                </a:solidFill>
              </a:rPr>
              <a:t>5</a:t>
            </a:r>
            <a:r>
              <a:rPr sz="825" b="1">
                <a:solidFill>
                  <a:srgbClr val="64748B"/>
                </a:solidFill>
              </a:rPr>
              <a:t> — HIGHLIGHT </a:t>
            </a:r>
            <a:r>
              <a:rPr lang="en-US" sz="825" b="1">
                <a:solidFill>
                  <a:srgbClr val="64748B"/>
                </a:solidFill>
              </a:rPr>
              <a:t>3</a:t>
            </a:r>
            <a:endParaRPr lang="en-US"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HIGHLIGHT </a:t>
            </a:r>
            <a:r>
              <a:rPr lang="en-US" sz="825" b="1">
                <a:solidFill>
                  <a:srgbClr val="6D28D9"/>
                </a:solidFill>
              </a:rPr>
              <a:t>3</a:t>
            </a:r>
            <a:endParaRPr lang="en-US"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2850" b="1">
                <a:solidFill>
                  <a:srgbClr val="0F172A"/>
                </a:solidFill>
              </a:defRPr>
            </a:pPr>
            <a:r>
              <a:rPr lang="zh-CN" altLang="en-US" sz="2850" b="1">
                <a:solidFill>
                  <a:srgbClr val="0F172A"/>
                </a:solidFill>
              </a:rPr>
              <a:t>亮点三 · 用了一年之后，</a:t>
            </a:r>
            <a:endParaRPr lang="zh-CN" altLang="en-US" sz="2850" b="1">
              <a:solidFill>
                <a:srgbClr val="0F172A"/>
              </a:solidFill>
            </a:endParaRPr>
          </a:p>
          <a:p>
            <a:pPr>
              <a:lnSpc>
                <a:spcPct val="150000"/>
              </a:lnSpc>
              <a:defRPr sz="2850" b="1">
                <a:solidFill>
                  <a:srgbClr val="0F172A"/>
                </a:solidFill>
              </a:defRPr>
            </a:pPr>
            <a:r>
              <a:rPr lang="zh-CN" altLang="en-US" sz="2850" b="1">
                <a:solidFill>
                  <a:srgbClr val="0F172A"/>
                </a:solidFill>
              </a:rPr>
              <a:t>你可以直接问它。</a:t>
            </a:r>
            <a:endParaRPr lang="zh-CN" altLang="en-US"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47700" y="283083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lang="en-US" altLang="zh-CN" sz="1050" i="1">
                <a:solidFill>
                  <a:srgbClr val="64748B"/>
                </a:solidFill>
              </a:rPr>
              <a:t>After a year, just ask it.</a:t>
            </a:r>
            <a:endParaRPr lang="en-US" altLang="zh-CN" sz="1050" i="1">
              <a:solidFill>
                <a:srgbClr val="64748B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609600" y="628650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990600" y="6210300"/>
            <a:ext cx="9525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>
                <a:solidFill>
                  <a:srgbClr val="0F172A"/>
                </a:solidFill>
              </a:defRPr>
            </a:pPr>
            <a:r>
              <a:rPr lang="zh-CN" altLang="en-US" sz="825">
                <a:solidFill>
                  <a:srgbClr val="0F172A"/>
                </a:solidFill>
              </a:rPr>
              <a:t>第一天它对你一无所知；第三百六十五天它比任何云端 </a:t>
            </a:r>
            <a:r>
              <a:rPr lang="en-US" altLang="zh-CN" sz="825">
                <a:solidFill>
                  <a:srgbClr val="0F172A"/>
                </a:solidFill>
              </a:rPr>
              <a:t>AI </a:t>
            </a:r>
            <a:r>
              <a:rPr lang="zh-CN" altLang="en-US" sz="825">
                <a:solidFill>
                  <a:srgbClr val="0F172A"/>
                </a:solidFill>
              </a:rPr>
              <a:t>都懂你。这个差距花钱买不到——因为数据从来不在别人手里。</a:t>
            </a:r>
            <a:endParaRPr lang="zh-CN" altLang="en-US" sz="825">
              <a:solidFill>
                <a:srgbClr val="0F172A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  <p:pic>
        <p:nvPicPr>
          <p:cNvPr id="34" name="图片 33" descr="1278ee1e-e4e5-46ee-896f-3a4b708e466e"/>
          <p:cNvPicPr>
            <a:picLocks noChangeAspect="1"/>
          </p:cNvPicPr>
          <p:nvPr/>
        </p:nvPicPr>
        <p:blipFill>
          <a:blip r:embed="rId1"/>
          <a:srcRect l="25964" r="4075"/>
          <a:stretch>
            <a:fillRect/>
          </a:stretch>
        </p:blipFill>
        <p:spPr>
          <a:xfrm>
            <a:off x="4943475" y="548640"/>
            <a:ext cx="6429375" cy="5514340"/>
          </a:xfrm>
          <a:prstGeom prst="rect">
            <a:avLst/>
          </a:prstGeom>
        </p:spPr>
      </p:pic>
      <p:sp>
        <p:nvSpPr>
          <p:cNvPr id="36" name="矩形 35"/>
          <p:cNvSpPr>
            <a:spLocks noGrp="1"/>
          </p:cNvSpPr>
          <p:nvPr/>
        </p:nvSpPr>
        <p:spPr>
          <a:xfrm>
            <a:off x="768350" y="3501390"/>
            <a:ext cx="3162300" cy="147256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  <a:defRPr sz="1650" b="1">
                <a:solidFill>
                  <a:srgbClr val="0F172A"/>
                </a:solidFill>
              </a:defRPr>
            </a:pPr>
            <a:r>
              <a:rPr lang="zh-CN" sz="1400" b="1">
                <a:solidFill>
                  <a:srgbClr val="0F172A"/>
                </a:solidFill>
              </a:rPr>
              <a:t>关联</a:t>
            </a:r>
            <a:r>
              <a:rPr lang="en-US" altLang="zh-CN" sz="1400" b="1">
                <a:solidFill>
                  <a:srgbClr val="0F172A"/>
                </a:solidFill>
              </a:rPr>
              <a:t>context</a:t>
            </a:r>
            <a:endParaRPr lang="en-US" altLang="zh-CN" sz="1400" b="1">
              <a:solidFill>
                <a:srgbClr val="0F172A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  <a:defRPr sz="1650" b="1">
                <a:solidFill>
                  <a:srgbClr val="0F172A"/>
                </a:solidFill>
              </a:defRPr>
            </a:pPr>
            <a:endParaRPr lang="en-US" altLang="zh-CN" sz="1400" b="1">
              <a:solidFill>
                <a:srgbClr val="0F172A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  <a:defRPr sz="1650" b="1">
                <a:solidFill>
                  <a:srgbClr val="0F172A"/>
                </a:solidFill>
              </a:defRPr>
            </a:pPr>
            <a:r>
              <a:rPr lang="zh-CN" altLang="en-US" sz="1400" b="1">
                <a:solidFill>
                  <a:srgbClr val="0F172A"/>
                </a:solidFill>
              </a:rPr>
              <a:t>全文提问</a:t>
            </a:r>
            <a:endParaRPr lang="zh-CN" altLang="en-US" sz="1400" b="1">
              <a:solidFill>
                <a:srgbClr val="0F172A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  <a:defRPr sz="1650" b="1">
                <a:solidFill>
                  <a:srgbClr val="0F172A"/>
                </a:solidFill>
              </a:defRPr>
            </a:pPr>
            <a:endParaRPr lang="zh-CN" altLang="en-US" sz="1400" b="1">
              <a:solidFill>
                <a:srgbClr val="0F172A"/>
              </a:solidFill>
            </a:endParaRPr>
          </a:p>
          <a:p>
            <a:pPr marL="285750" indent="-285750">
              <a:lnSpc>
                <a:spcPct val="150000"/>
              </a:lnSpc>
              <a:buFont typeface="Arial" panose="020B0704020202020204" pitchFamily="34" charset="0"/>
              <a:buChar char="•"/>
              <a:defRPr sz="1650" b="1">
                <a:solidFill>
                  <a:srgbClr val="0F172A"/>
                </a:solidFill>
              </a:defRPr>
            </a:pPr>
            <a:r>
              <a:rPr lang="zh-CN" altLang="en-US" sz="1400" b="1">
                <a:solidFill>
                  <a:srgbClr val="0F172A"/>
                </a:solidFill>
              </a:rPr>
              <a:t>自动记忆和回溯</a:t>
            </a:r>
            <a:endParaRPr lang="zh-CN" altLang="en-US" sz="1400" b="1">
              <a:solidFill>
                <a:srgbClr val="0F172A"/>
              </a:solidFill>
            </a:endParaRP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椭圆 24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sz="825" b="1">
                <a:solidFill>
                  <a:srgbClr val="64748B"/>
                </a:solidFill>
              </a:rPr>
              <a:t>06 — REALITY 1  ·  MINDMAP × TODAY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>
                <a:sym typeface="+mn-ea"/>
              </a:rPr>
              <a:t>HIGHLIGHT </a:t>
            </a:r>
            <a:r>
              <a:rPr lang="en-US">
                <a:sym typeface="+mn-ea"/>
              </a:rPr>
              <a:t>4</a:t>
            </a:r>
            <a:endParaRPr lang="en-US" sz="825" b="1">
              <a:solidFill>
                <a:srgbClr val="6D28D9"/>
              </a:solidFill>
              <a:sym typeface="+mn-ea"/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lang="zh-CN" sz="2850" b="1">
                <a:solidFill>
                  <a:srgbClr val="0F172A"/>
                </a:solidFill>
              </a:rPr>
              <a:t>亮点四</a:t>
            </a:r>
            <a:r>
              <a:rPr lang="en-US" altLang="zh-CN" sz="2850" b="1">
                <a:solidFill>
                  <a:srgbClr val="0F172A"/>
                </a:solidFill>
              </a:rPr>
              <a:t>：</a:t>
            </a:r>
            <a:r>
              <a:rPr lang="zh-CN" sz="2850" b="1">
                <a:solidFill>
                  <a:srgbClr val="0F172A"/>
                </a:solidFill>
              </a:rPr>
              <a:t>多源同步</a:t>
            </a:r>
            <a:r>
              <a:rPr lang="en-US" altLang="zh-CN" sz="2850" b="1">
                <a:solidFill>
                  <a:srgbClr val="0F172A"/>
                </a:solidFill>
              </a:rPr>
              <a:t>、</a:t>
            </a:r>
            <a:r>
              <a:rPr lang="zh-CN" altLang="en-US" sz="2850" b="1">
                <a:solidFill>
                  <a:srgbClr val="0F172A"/>
                </a:solidFill>
              </a:rPr>
              <a:t>自主</a:t>
            </a:r>
            <a:r>
              <a:rPr lang="zh-CN" altLang="en-US" sz="2850" b="1">
                <a:solidFill>
                  <a:srgbClr val="0F172A"/>
                </a:solidFill>
              </a:rPr>
              <a:t>可控</a:t>
            </a:r>
            <a:endParaRPr lang="zh-CN" altLang="en-US"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0" y="148717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lang="en-US" sz="1050" i="1">
                <a:solidFill>
                  <a:srgbClr val="64748B"/>
                </a:solidFill>
              </a:rPr>
              <a:t>Controllable、Open Source </a:t>
            </a:r>
            <a:r>
              <a:rPr lang="en-US" sz="1050" i="1">
                <a:solidFill>
                  <a:srgbClr val="64748B"/>
                </a:solidFill>
              </a:rPr>
              <a:t>and Plugins</a:t>
            </a:r>
            <a:endParaRPr lang="en-US" sz="1050" i="1">
              <a:solidFill>
                <a:srgbClr val="64748B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  <p:sp>
        <p:nvSpPr>
          <p:cNvPr id="30" name="圆角矩形 29"/>
          <p:cNvSpPr>
            <a:spLocks noGrp="1"/>
          </p:cNvSpPr>
          <p:nvPr/>
        </p:nvSpPr>
        <p:spPr>
          <a:xfrm>
            <a:off x="280670" y="2199640"/>
            <a:ext cx="3619500" cy="38195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80670" y="2199640"/>
            <a:ext cx="3619500" cy="381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509270" y="242824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01</a:t>
            </a:r>
            <a:endParaRPr sz="1050" b="1">
              <a:solidFill>
                <a:srgbClr val="6D28D9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798195" y="2407285"/>
            <a:ext cx="3162300" cy="420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lang="zh-CN" altLang="en-US" sz="1650" b="1">
                <a:solidFill>
                  <a:srgbClr val="0F172A"/>
                </a:solidFill>
              </a:rPr>
              <a:t>支持所有</a:t>
            </a:r>
            <a:r>
              <a:rPr lang="en-US" altLang="zh-CN" sz="1650" b="1">
                <a:solidFill>
                  <a:srgbClr val="0F172A"/>
                </a:solidFill>
              </a:rPr>
              <a:t>AI</a:t>
            </a:r>
            <a:r>
              <a:rPr lang="zh-CN" altLang="en-US" sz="1650" b="1">
                <a:solidFill>
                  <a:srgbClr val="0F172A"/>
                </a:solidFill>
              </a:rPr>
              <a:t>平台</a:t>
            </a:r>
            <a:r>
              <a:rPr lang="zh-CN" altLang="en-US" sz="1650" b="1">
                <a:solidFill>
                  <a:srgbClr val="0F172A"/>
                </a:solidFill>
              </a:rPr>
              <a:t>介入</a:t>
            </a:r>
            <a:endParaRPr lang="zh-CN" altLang="en-US" sz="1650" b="1">
              <a:solidFill>
                <a:srgbClr val="0F172A"/>
              </a:solidFill>
            </a:endParaRPr>
          </a:p>
        </p:txBody>
      </p:sp>
      <p:pic>
        <p:nvPicPr>
          <p:cNvPr id="28" name="图片 27" descr="fc7f837b-4bf7-4397-91b2-8d1431523465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790" y="2787650"/>
            <a:ext cx="2581275" cy="3034030"/>
          </a:xfrm>
          <a:prstGeom prst="rect">
            <a:avLst/>
          </a:prstGeom>
        </p:spPr>
      </p:pic>
      <p:sp>
        <p:nvSpPr>
          <p:cNvPr id="45" name="圆角矩形 44"/>
          <p:cNvSpPr>
            <a:spLocks noGrp="1"/>
          </p:cNvSpPr>
          <p:nvPr/>
        </p:nvSpPr>
        <p:spPr>
          <a:xfrm>
            <a:off x="4197985" y="2207260"/>
            <a:ext cx="3619500" cy="38195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46" name="矩形 45"/>
          <p:cNvSpPr>
            <a:spLocks noGrp="1"/>
          </p:cNvSpPr>
          <p:nvPr/>
        </p:nvSpPr>
        <p:spPr>
          <a:xfrm>
            <a:off x="4197985" y="2207260"/>
            <a:ext cx="3619500" cy="381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4426585" y="243586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0</a:t>
            </a:r>
            <a:r>
              <a:rPr lang="en-US" sz="1050" b="1">
                <a:solidFill>
                  <a:srgbClr val="6D28D9"/>
                </a:solidFill>
              </a:rPr>
              <a:t>2</a:t>
            </a:r>
            <a:endParaRPr lang="en-US" sz="1050" b="1">
              <a:solidFill>
                <a:srgbClr val="6D28D9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4715510" y="2414905"/>
            <a:ext cx="3162300" cy="420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lang="zh-CN" altLang="en-US" sz="1650" b="1">
                <a:solidFill>
                  <a:srgbClr val="0F172A"/>
                </a:solidFill>
              </a:rPr>
              <a:t>支持飞书</a:t>
            </a:r>
            <a:r>
              <a:rPr lang="en-US" altLang="zh-CN" sz="1650" b="1">
                <a:solidFill>
                  <a:srgbClr val="0F172A"/>
                </a:solidFill>
              </a:rPr>
              <a:t>、</a:t>
            </a:r>
            <a:r>
              <a:rPr lang="zh-CN" altLang="en-US" sz="1650" b="1">
                <a:solidFill>
                  <a:srgbClr val="0F172A"/>
                </a:solidFill>
              </a:rPr>
              <a:t>谷歌等插件</a:t>
            </a:r>
            <a:r>
              <a:rPr lang="zh-CN" altLang="en-US" sz="1650" b="1">
                <a:solidFill>
                  <a:srgbClr val="0F172A"/>
                </a:solidFill>
              </a:rPr>
              <a:t>接入</a:t>
            </a:r>
            <a:endParaRPr lang="zh-CN" altLang="en-US" sz="1650" b="1">
              <a:solidFill>
                <a:srgbClr val="0F172A"/>
              </a:solidFill>
            </a:endParaRPr>
          </a:p>
        </p:txBody>
      </p:sp>
      <p:pic>
        <p:nvPicPr>
          <p:cNvPr id="29" name="图片 28" descr="772f9104-a8e9-4b80-98c0-71074f81e6d4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468495" y="3105785"/>
            <a:ext cx="2889885" cy="2649855"/>
          </a:xfrm>
          <a:prstGeom prst="rect">
            <a:avLst/>
          </a:prstGeom>
        </p:spPr>
      </p:pic>
      <p:sp>
        <p:nvSpPr>
          <p:cNvPr id="50" name="圆角矩形 49"/>
          <p:cNvSpPr>
            <a:spLocks noGrp="1"/>
          </p:cNvSpPr>
          <p:nvPr/>
        </p:nvSpPr>
        <p:spPr>
          <a:xfrm>
            <a:off x="8202930" y="2199640"/>
            <a:ext cx="3619500" cy="3819525"/>
          </a:xfrm>
          <a:prstGeom prst="roundRect">
            <a:avLst>
              <a:gd name="adj" fmla="val 5333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8202930" y="2199640"/>
            <a:ext cx="3619500" cy="381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2" name="矩形 51"/>
          <p:cNvSpPr>
            <a:spLocks noGrp="1"/>
          </p:cNvSpPr>
          <p:nvPr/>
        </p:nvSpPr>
        <p:spPr>
          <a:xfrm>
            <a:off x="8431530" y="2428240"/>
            <a:ext cx="7620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0</a:t>
            </a:r>
            <a:r>
              <a:rPr lang="en-US" sz="1050" b="1">
                <a:solidFill>
                  <a:srgbClr val="6D28D9"/>
                </a:solidFill>
              </a:rPr>
              <a:t>3</a:t>
            </a:r>
            <a:endParaRPr lang="en-US" sz="1050" b="1">
              <a:solidFill>
                <a:srgbClr val="6D28D9"/>
              </a:solidFill>
            </a:endParaRPr>
          </a:p>
        </p:txBody>
      </p:sp>
      <p:sp>
        <p:nvSpPr>
          <p:cNvPr id="53" name="矩形 52"/>
          <p:cNvSpPr>
            <a:spLocks noGrp="1"/>
          </p:cNvSpPr>
          <p:nvPr/>
        </p:nvSpPr>
        <p:spPr>
          <a:xfrm>
            <a:off x="8720455" y="2407285"/>
            <a:ext cx="3162300" cy="42037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lang="zh-CN" altLang="en-US" sz="1650" b="1">
                <a:solidFill>
                  <a:srgbClr val="0F172A"/>
                </a:solidFill>
              </a:rPr>
              <a:t>支持</a:t>
            </a:r>
            <a:r>
              <a:rPr lang="en-US" altLang="zh-CN" sz="1650" b="1">
                <a:solidFill>
                  <a:srgbClr val="0F172A"/>
                </a:solidFill>
              </a:rPr>
              <a:t>Github、IPFS</a:t>
            </a:r>
            <a:r>
              <a:rPr lang="zh-CN" altLang="en-US" sz="1650" b="1">
                <a:solidFill>
                  <a:srgbClr val="0F172A"/>
                </a:solidFill>
              </a:rPr>
              <a:t>等</a:t>
            </a:r>
            <a:r>
              <a:rPr lang="zh-CN" altLang="en-US">
                <a:sym typeface="+mn-ea"/>
              </a:rPr>
              <a:t>平台同步</a:t>
            </a:r>
            <a:endParaRPr lang="en-US" altLang="zh-CN" sz="1650" b="1">
              <a:solidFill>
                <a:srgbClr val="0F172A"/>
              </a:solidFill>
            </a:endParaRPr>
          </a:p>
        </p:txBody>
      </p:sp>
      <p:pic>
        <p:nvPicPr>
          <p:cNvPr id="55" name="图片 54" descr="f08f29c9-9d40-41d9-90bc-8c0ae097676a"/>
          <p:cNvPicPr>
            <a:picLocks noChangeAspect="1"/>
          </p:cNvPicPr>
          <p:nvPr/>
        </p:nvPicPr>
        <p:blipFill>
          <a:blip r:embed="rId3"/>
          <a:srcRect r="3696"/>
          <a:stretch>
            <a:fillRect/>
          </a:stretch>
        </p:blipFill>
        <p:spPr>
          <a:xfrm>
            <a:off x="8904605" y="2786380"/>
            <a:ext cx="2462530" cy="298577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42" name="椭圆 41"/>
          <p:cNvSpPr>
            <a:spLocks noGrp="1"/>
          </p:cNvSpPr>
          <p:nvPr/>
        </p:nvSpPr>
        <p:spPr>
          <a:xfrm>
            <a:off x="2762250" y="1047750"/>
            <a:ext cx="6667500" cy="6667500"/>
          </a:xfrm>
          <a:prstGeom prst="ellipse">
            <a:avLst/>
          </a:prstGeom>
          <a:solidFill>
            <a:srgbClr val="C4B5FD">
              <a:alpha val="10000"/>
            </a:srgbClr>
          </a:solidFill>
          <a:ln w="0">
            <a:noFill/>
            <a:prstDash val="solid"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C4B5FD"/>
          </a:solidFill>
          <a:ln w="0">
            <a:noFill/>
            <a:prstDash val="solid"/>
          </a:ln>
        </p:spPr>
      </p:sp>
      <p:sp>
        <p:nvSpPr>
          <p:cNvPr id="3" name="矩形 2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FFFFFF">
                    <a:alpha val="55000"/>
                  </a:srgbClr>
                </a:solidFill>
              </a:defRPr>
            </a:pPr>
            <a:r>
              <a:rPr lang="en-US" sz="825" b="1">
                <a:solidFill>
                  <a:srgbClr val="FFFFFF">
                    <a:alpha val="55000"/>
                  </a:srgbClr>
                </a:solidFill>
              </a:rPr>
              <a:t>07</a:t>
            </a:r>
            <a:r>
              <a:rPr sz="825" b="1">
                <a:solidFill>
                  <a:srgbClr val="FFFFFF">
                    <a:alpha val="55000"/>
                  </a:srgbClr>
                </a:solidFill>
              </a:rPr>
              <a:t>— OPEN SOURCE  ·  OUR MAIN STRATEGY</a:t>
            </a:r>
            <a:endParaRPr sz="825" b="1">
              <a:solidFill>
                <a:srgbClr val="FFFFFF">
                  <a:alpha val="55000"/>
                </a:srgbClr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FFFFFF">
                    <a:alpha val="40000"/>
                  </a:srgbClr>
                </a:solidFill>
              </a:defRPr>
            </a:pPr>
            <a:r>
              <a:rPr sz="750" b="1">
                <a:solidFill>
                  <a:srgbClr val="FFFFFF">
                    <a:alpha val="40000"/>
                  </a:srgbClr>
                </a:solidFill>
              </a:rPr>
              <a:t>DAILYFLOW · 2026</a:t>
            </a:r>
            <a:endParaRPr sz="750" b="1">
              <a:solidFill>
                <a:srgbClr val="FFFFFF">
                  <a:alpha val="40000"/>
                </a:srgbClr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C4B5FD"/>
          </a:solidFill>
          <a:ln w="0">
            <a:noFill/>
            <a:prstDash val="solid"/>
          </a:ln>
        </p:spPr>
      </p:sp>
      <p:sp>
        <p:nvSpPr>
          <p:cNvPr id="6" name="矩形 5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C4B5FD"/>
                </a:solidFill>
              </a:defRPr>
            </a:pPr>
            <a:r>
              <a:rPr sz="825" b="1">
                <a:solidFill>
                  <a:srgbClr val="C4B5FD"/>
                </a:solidFill>
              </a:rPr>
              <a:t>OPEN SOURCE · 主策略</a:t>
            </a:r>
            <a:endParaRPr sz="825" b="1">
              <a:solidFill>
                <a:srgbClr val="C4B5FD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FFFFFF"/>
                </a:solidFill>
              </a:defRPr>
            </a:pPr>
            <a:r>
              <a:rPr lang="en-US" sz="2850" b="1">
                <a:solidFill>
                  <a:srgbClr val="FFFFFF"/>
                </a:solidFill>
              </a:rPr>
              <a:t>330+ commit，80+</a:t>
            </a:r>
            <a:r>
              <a:rPr lang="zh-CN" altLang="en-US" sz="2850" b="1">
                <a:solidFill>
                  <a:srgbClr val="FFFFFF"/>
                </a:solidFill>
              </a:rPr>
              <a:t>版本</a:t>
            </a:r>
            <a:r>
              <a:rPr lang="en-US" altLang="zh-CN" sz="2850" b="1">
                <a:solidFill>
                  <a:srgbClr val="FFFFFF"/>
                </a:solidFill>
              </a:rPr>
              <a:t>，</a:t>
            </a:r>
            <a:r>
              <a:rPr lang="zh-CN" altLang="en-US" sz="2850" b="1">
                <a:solidFill>
                  <a:srgbClr val="FFFFFF"/>
                </a:solidFill>
              </a:rPr>
              <a:t>开源模式才是</a:t>
            </a:r>
            <a:r>
              <a:rPr lang="en-US" altLang="zh-CN" sz="2850" b="1">
                <a:solidFill>
                  <a:srgbClr val="FFFFFF"/>
                </a:solidFill>
              </a:rPr>
              <a:t>AI</a:t>
            </a:r>
            <a:r>
              <a:rPr lang="zh-CN" altLang="en-US" sz="2850" b="1">
                <a:solidFill>
                  <a:srgbClr val="FFFFFF"/>
                </a:solidFill>
              </a:rPr>
              <a:t>时代的</a:t>
            </a:r>
            <a:r>
              <a:rPr lang="zh-CN" altLang="en-US" sz="2850" b="1">
                <a:solidFill>
                  <a:srgbClr val="FFFFFF"/>
                </a:solidFill>
              </a:rPr>
              <a:t>核心</a:t>
            </a:r>
            <a:endParaRPr lang="zh-CN" altLang="en-US" sz="2850" b="1">
              <a:solidFill>
                <a:srgbClr val="FFFFFF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FFFFFF">
                    <a:alpha val="55000"/>
                  </a:srgbClr>
                </a:solidFill>
              </a:defRPr>
            </a:pPr>
            <a:r>
              <a:rPr lang="zh-CN" sz="1050" i="1">
                <a:solidFill>
                  <a:srgbClr val="FFFFFF">
                    <a:alpha val="55000"/>
                  </a:srgbClr>
                </a:solidFill>
              </a:rPr>
              <a:t>该产品在做最后的开源准备</a:t>
            </a:r>
            <a:r>
              <a:rPr lang="en-US" altLang="zh-CN" sz="1050" i="1">
                <a:solidFill>
                  <a:srgbClr val="FFFFFF">
                    <a:alpha val="55000"/>
                  </a:srgbClr>
                </a:solidFill>
              </a:rPr>
              <a:t>，</a:t>
            </a:r>
            <a:r>
              <a:rPr lang="zh-CN" altLang="en-US" sz="1050" i="1">
                <a:solidFill>
                  <a:srgbClr val="FFFFFF">
                    <a:alpha val="55000"/>
                  </a:srgbClr>
                </a:solidFill>
              </a:rPr>
              <a:t>月底即将实现完全</a:t>
            </a:r>
            <a:r>
              <a:rPr lang="zh-CN" altLang="en-US" sz="1050" i="1">
                <a:solidFill>
                  <a:srgbClr val="FFFFFF">
                    <a:alpha val="55000"/>
                  </a:srgbClr>
                </a:solidFill>
              </a:rPr>
              <a:t>开源</a:t>
            </a:r>
            <a:endParaRPr lang="zh-CN" altLang="en-US" sz="1050" i="1">
              <a:solidFill>
                <a:srgbClr val="FFFFFF">
                  <a:alpha val="55000"/>
                </a:srgbClr>
              </a:solidFill>
            </a:endParaRPr>
          </a:p>
        </p:txBody>
      </p:sp>
      <p:sp>
        <p:nvSpPr>
          <p:cNvPr id="9" name="圆角矩形 8"/>
          <p:cNvSpPr>
            <a:spLocks noGrp="1"/>
          </p:cNvSpPr>
          <p:nvPr/>
        </p:nvSpPr>
        <p:spPr>
          <a:xfrm>
            <a:off x="609600" y="2571750"/>
            <a:ext cx="7839710" cy="3750310"/>
          </a:xfrm>
          <a:prstGeom prst="roundRect">
            <a:avLst>
              <a:gd name="adj" fmla="val 5000"/>
            </a:avLst>
          </a:prstGeom>
          <a:solidFill>
            <a:srgbClr val="FFFFFF">
              <a:alpha val="4000"/>
            </a:srgbClr>
          </a:solidFill>
          <a:ln w="14288">
            <a:solidFill>
              <a:srgbClr val="FFFFFF">
                <a:alpha val="22000"/>
              </a:srgbClr>
            </a:solidFill>
            <a:prstDash val="dash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609600" y="2571750"/>
            <a:ext cx="76200" cy="3750310"/>
          </a:xfrm>
          <a:prstGeom prst="rect">
            <a:avLst/>
          </a:prstGeom>
          <a:solidFill>
            <a:srgbClr val="C4B5FD">
              <a:alpha val="50000"/>
            </a:srgbClr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781050" y="2705100"/>
            <a:ext cx="7350125" cy="337185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FFFFFF">
                    <a:alpha val="55000"/>
                  </a:srgbClr>
                </a:solidFill>
              </a:defRPr>
            </a:pPr>
            <a:r>
              <a:rPr sz="825" b="1">
                <a:solidFill>
                  <a:srgbClr val="FFFFFF">
                    <a:alpha val="55000"/>
                  </a:srgbClr>
                </a:solidFill>
              </a:rPr>
              <a:t>PROJECT DIRECTORY  ·</a:t>
            </a:r>
            <a:endParaRPr sz="825" b="1">
              <a:solidFill>
                <a:srgbClr val="FFFFFF">
                  <a:alpha val="55000"/>
                </a:srgbClr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2828925" y="3048000"/>
            <a:ext cx="1496695" cy="1424940"/>
          </a:xfrm>
          <a:prstGeom prst="roundRect">
            <a:avLst>
              <a:gd name="adj" fmla="val 10526"/>
            </a:avLst>
          </a:prstGeom>
          <a:solidFill>
            <a:srgbClr val="FFFFFF">
              <a:alpha val="6000"/>
            </a:srgbClr>
          </a:solidFill>
          <a:ln w="9525">
            <a:solidFill>
              <a:srgbClr val="FFFFFF">
                <a:alpha val="55000"/>
              </a:srgbClr>
            </a:solidFill>
            <a:prstDash val="dash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2828925" y="3219450"/>
            <a:ext cx="1496695" cy="29972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675" b="1">
                <a:solidFill>
                  <a:srgbClr val="FFFFFF">
                    <a:alpha val="55000"/>
                  </a:srgbClr>
                </a:solidFill>
              </a:defRPr>
            </a:pPr>
            <a:r>
              <a:rPr sz="675" b="1">
                <a:solidFill>
                  <a:srgbClr val="FFFFFF">
                    <a:alpha val="55000"/>
                  </a:srgbClr>
                </a:solidFill>
              </a:rPr>
              <a:t>SCREENSHOT</a:t>
            </a:r>
            <a:endParaRPr sz="675" b="1">
              <a:solidFill>
                <a:srgbClr val="FFFFFF">
                  <a:alpha val="55000"/>
                </a:srgbClr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2828925" y="3409950"/>
            <a:ext cx="1496695" cy="44958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ctr">
              <a:defRPr sz="750">
                <a:solidFill>
                  <a:srgbClr val="FFFFFF">
                    <a:alpha val="85000"/>
                  </a:srgbClr>
                </a:solidFill>
              </a:defRPr>
            </a:pPr>
            <a:r>
              <a:rPr sz="750">
                <a:solidFill>
                  <a:srgbClr val="FFFFFF">
                    <a:alpha val="85000"/>
                  </a:srgbClr>
                </a:solidFill>
              </a:rPr>
              <a:t>在此插入截图</a:t>
            </a:r>
            <a:endParaRPr sz="750">
              <a:solidFill>
                <a:srgbClr val="FFFFFF">
                  <a:alpha val="85000"/>
                </a:srgbClr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8679815" y="240284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8832215" y="251714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C4B5FD"/>
                </a:solidFill>
              </a:defRPr>
            </a:pPr>
            <a:r>
              <a:rPr sz="825" b="1">
                <a:solidFill>
                  <a:srgbClr val="C4B5FD"/>
                </a:solidFill>
              </a:rPr>
              <a:t>01</a:t>
            </a:r>
            <a:endParaRPr sz="825" b="1">
              <a:solidFill>
                <a:srgbClr val="C4B5FD"/>
              </a:solidFill>
            </a:endParaRPr>
          </a:p>
        </p:txBody>
      </p:sp>
      <p:sp>
        <p:nvSpPr>
          <p:cNvPr id="25" name="矩形 24"/>
          <p:cNvSpPr>
            <a:spLocks noGrp="1"/>
          </p:cNvSpPr>
          <p:nvPr/>
        </p:nvSpPr>
        <p:spPr>
          <a:xfrm>
            <a:off x="9213215" y="249809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信任必须可验证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8832215" y="274574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FFFFFF">
                    <a:alpha val="75000"/>
                  </a:srgbClr>
                </a:solidFill>
              </a:defRPr>
            </a:pPr>
            <a:r>
              <a:rPr sz="750">
                <a:solidFill>
                  <a:srgbClr val="FFFFFF">
                    <a:alpha val="75000"/>
                  </a:srgbClr>
                </a:solidFill>
              </a:rPr>
              <a:t>产品处理的是你最私密的东西——工作记忆、会议原文、承诺。「很安全」不该由我们自己说，代码摊开，自己看。</a:t>
            </a:r>
            <a:endParaRPr sz="750">
              <a:solidFill>
                <a:srgbClr val="FFFFFF">
                  <a:alpha val="75000"/>
                </a:srgbClr>
              </a:solidFill>
            </a:endParaRPr>
          </a:p>
        </p:txBody>
      </p:sp>
      <p:sp>
        <p:nvSpPr>
          <p:cNvPr id="27" name="圆角矩形 26"/>
          <p:cNvSpPr>
            <a:spLocks noGrp="1"/>
          </p:cNvSpPr>
          <p:nvPr/>
        </p:nvSpPr>
        <p:spPr>
          <a:xfrm>
            <a:off x="8690610" y="4360545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28" name="矩形 27"/>
          <p:cNvSpPr>
            <a:spLocks noGrp="1"/>
          </p:cNvSpPr>
          <p:nvPr/>
        </p:nvSpPr>
        <p:spPr>
          <a:xfrm>
            <a:off x="8843010" y="447484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C4B5FD"/>
                </a:solidFill>
              </a:defRPr>
            </a:pPr>
            <a:r>
              <a:rPr sz="825" b="1">
                <a:solidFill>
                  <a:srgbClr val="C4B5FD"/>
                </a:solidFill>
              </a:rPr>
              <a:t>02</a:t>
            </a:r>
            <a:endParaRPr sz="825" b="1">
              <a:solidFill>
                <a:srgbClr val="C4B5FD"/>
              </a:solidFill>
            </a:endParaRPr>
          </a:p>
        </p:txBody>
      </p:sp>
      <p:sp>
        <p:nvSpPr>
          <p:cNvPr id="29" name="矩形 28"/>
          <p:cNvSpPr>
            <a:spLocks noGrp="1"/>
          </p:cNvSpPr>
          <p:nvPr/>
        </p:nvSpPr>
        <p:spPr>
          <a:xfrm>
            <a:off x="9224010" y="4455795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谁都可以二次开发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8843010" y="4703445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FFFFFF">
                    <a:alpha val="75000"/>
                  </a:srgbClr>
                </a:solidFill>
              </a:defRPr>
            </a:pPr>
            <a:r>
              <a:rPr sz="750">
                <a:solidFill>
                  <a:srgbClr val="FFFFFF">
                    <a:alpha val="75000"/>
                  </a:srgbClr>
                </a:solidFill>
              </a:rPr>
              <a:t>Apache-2.0，可以 fork、可以做垂直版本；Agent Skill 接口开放，社区能直接给它写技能。</a:t>
            </a:r>
            <a:endParaRPr sz="750">
              <a:solidFill>
                <a:srgbClr val="FFFFFF">
                  <a:alpha val="75000"/>
                </a:srgbClr>
              </a:solidFill>
            </a:endParaRPr>
          </a:p>
        </p:txBody>
      </p:sp>
      <p:sp>
        <p:nvSpPr>
          <p:cNvPr id="31" name="圆角矩形 30"/>
          <p:cNvSpPr>
            <a:spLocks noGrp="1"/>
          </p:cNvSpPr>
          <p:nvPr/>
        </p:nvSpPr>
        <p:spPr>
          <a:xfrm>
            <a:off x="8679815" y="3412490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2" name="矩形 31"/>
          <p:cNvSpPr>
            <a:spLocks noGrp="1"/>
          </p:cNvSpPr>
          <p:nvPr/>
        </p:nvSpPr>
        <p:spPr>
          <a:xfrm>
            <a:off x="8832215" y="3526790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C4B5FD"/>
                </a:solidFill>
              </a:defRPr>
            </a:pPr>
            <a:r>
              <a:rPr sz="825" b="1">
                <a:solidFill>
                  <a:srgbClr val="C4B5FD"/>
                </a:solidFill>
              </a:rPr>
              <a:t>03</a:t>
            </a:r>
            <a:endParaRPr sz="825" b="1">
              <a:solidFill>
                <a:srgbClr val="C4B5FD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9213215" y="3507740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反锁定是双向的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8832215" y="375539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FFFFFF">
                    <a:alpha val="75000"/>
                  </a:srgbClr>
                </a:solidFill>
              </a:defRPr>
            </a:pPr>
            <a:r>
              <a:rPr sz="750">
                <a:solidFill>
                  <a:srgbClr val="FFFFFF">
                    <a:alpha val="75000"/>
                  </a:srgbClr>
                </a:solidFill>
              </a:rPr>
              <a:t>用户不被我们锁定；我们也只能靠持续迭代留住用户——这是开源对团队的硬约束。</a:t>
            </a:r>
            <a:endParaRPr sz="750">
              <a:solidFill>
                <a:srgbClr val="FFFFFF">
                  <a:alpha val="75000"/>
                </a:srgbClr>
              </a:solidFill>
            </a:endParaRPr>
          </a:p>
        </p:txBody>
      </p:sp>
      <p:sp>
        <p:nvSpPr>
          <p:cNvPr id="35" name="圆角矩形 34"/>
          <p:cNvSpPr>
            <a:spLocks noGrp="1"/>
          </p:cNvSpPr>
          <p:nvPr/>
        </p:nvSpPr>
        <p:spPr>
          <a:xfrm>
            <a:off x="8690610" y="5370195"/>
            <a:ext cx="2667000" cy="857250"/>
          </a:xfrm>
          <a:prstGeom prst="roundRect">
            <a:avLst>
              <a:gd name="adj" fmla="val 11111"/>
            </a:avLst>
          </a:prstGeom>
          <a:solidFill>
            <a:srgbClr val="FFFFFF">
              <a:alpha val="4000"/>
            </a:srgbClr>
          </a:solidFill>
          <a:ln w="9525">
            <a:solidFill>
              <a:srgbClr val="FFFFFF">
                <a:alpha val="15000"/>
              </a:srgbClr>
            </a:solidFill>
            <a:prstDash val="solid"/>
          </a:ln>
        </p:spPr>
      </p:sp>
      <p:sp>
        <p:nvSpPr>
          <p:cNvPr id="36" name="矩形 35"/>
          <p:cNvSpPr>
            <a:spLocks noGrp="1"/>
          </p:cNvSpPr>
          <p:nvPr/>
        </p:nvSpPr>
        <p:spPr>
          <a:xfrm>
            <a:off x="8843010" y="5484495"/>
            <a:ext cx="47625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C4B5FD"/>
                </a:solidFill>
              </a:defRPr>
            </a:pPr>
            <a:r>
              <a:rPr sz="825" b="1">
                <a:solidFill>
                  <a:srgbClr val="C4B5FD"/>
                </a:solidFill>
              </a:rPr>
              <a:t>04</a:t>
            </a:r>
            <a:endParaRPr sz="825" b="1">
              <a:solidFill>
                <a:srgbClr val="C4B5FD"/>
              </a:solidFill>
            </a:endParaRPr>
          </a:p>
        </p:txBody>
      </p:sp>
      <p:sp>
        <p:nvSpPr>
          <p:cNvPr id="37" name="矩形 36"/>
          <p:cNvSpPr>
            <a:spLocks noGrp="1"/>
          </p:cNvSpPr>
          <p:nvPr/>
        </p:nvSpPr>
        <p:spPr>
          <a:xfrm>
            <a:off x="9224010" y="5465445"/>
            <a:ext cx="19812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开源不死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8843010" y="5713095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>
                <a:solidFill>
                  <a:srgbClr val="FFFFFF">
                    <a:alpha val="75000"/>
                  </a:srgbClr>
                </a:solidFill>
              </a:defRPr>
            </a:pPr>
            <a:r>
              <a:rPr sz="750">
                <a:solidFill>
                  <a:srgbClr val="FFFFFF">
                    <a:alpha val="75000"/>
                  </a:srgbClr>
                </a:solidFill>
              </a:rPr>
              <a:t>哪怕我们明天关门，代码、数据格式、你的文件都还在。产品寿命不绑定公司寿命。</a:t>
            </a:r>
            <a:endParaRPr sz="750">
              <a:solidFill>
                <a:srgbClr val="FFFFFF">
                  <a:alpha val="75000"/>
                </a:srgbClr>
              </a:solidFill>
            </a:endParaRPr>
          </a:p>
        </p:txBody>
      </p:sp>
      <p:sp>
        <p:nvSpPr>
          <p:cNvPr id="39" name="矩形 38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FFFFFF">
                    <a:alpha val="40000"/>
                  </a:srgbClr>
                </a:solidFill>
              </a:defRPr>
            </a:pPr>
            <a:r>
              <a:rPr sz="675">
                <a:solidFill>
                  <a:srgbClr val="FFFFFF">
                    <a:alpha val="40000"/>
                  </a:srgbClr>
                </a:solidFill>
              </a:rPr>
              <a:t>APACHE-2.0  ·  github.com/dailyflow</a:t>
            </a:r>
            <a:endParaRPr sz="675">
              <a:solidFill>
                <a:srgbClr val="FFFFFF">
                  <a:alpha val="40000"/>
                </a:srgbClr>
              </a:solidFill>
            </a:endParaRPr>
          </a:p>
        </p:txBody>
      </p:sp>
      <p:pic>
        <p:nvPicPr>
          <p:cNvPr id="43" name="图片 42" descr="4c8a32c4-a3e6-42ee-a26f-e330f714f1fe"/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127125" y="2953385"/>
            <a:ext cx="6580505" cy="298323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8" name="椭圆 37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lang="en-US" sz="825" b="1">
                <a:solidFill>
                  <a:srgbClr val="64748B"/>
                </a:solidFill>
              </a:rPr>
              <a:t>08</a:t>
            </a:r>
            <a:r>
              <a:rPr sz="825" b="1">
                <a:solidFill>
                  <a:srgbClr val="64748B"/>
                </a:solidFill>
              </a:rPr>
              <a:t>— BUSINESS MODEL  ·  OPEN CORE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BUSINESS MODEL · OPEN CORE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lang="en-US" sz="2850" b="1">
                <a:solidFill>
                  <a:srgbClr val="0F172A"/>
                </a:solidFill>
              </a:rPr>
              <a:t>OpenCore</a:t>
            </a:r>
            <a:r>
              <a:rPr lang="zh-CN" altLang="en-US" sz="2850" b="1">
                <a:solidFill>
                  <a:srgbClr val="0F172A"/>
                </a:solidFill>
              </a:rPr>
              <a:t>的模式</a:t>
            </a:r>
            <a:r>
              <a:rPr lang="en-US" altLang="zh-CN" sz="2850" b="1">
                <a:solidFill>
                  <a:srgbClr val="0F172A"/>
                </a:solidFill>
              </a:rPr>
              <a:t>：</a:t>
            </a:r>
            <a:r>
              <a:rPr sz="2850" b="1">
                <a:solidFill>
                  <a:srgbClr val="0F172A"/>
                </a:solidFill>
              </a:rPr>
              <a:t>核心永久免费开源，收费只在增值服务。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Free forever; revenue only from add-ons.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09600" y="2667000"/>
            <a:ext cx="2095500" cy="3048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609600" y="2667000"/>
            <a:ext cx="28575" cy="30480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0" name="矩形 9"/>
          <p:cNvSpPr>
            <a:spLocks noGrp="1"/>
          </p:cNvSpPr>
          <p:nvPr/>
        </p:nvSpPr>
        <p:spPr>
          <a:xfrm>
            <a:off x="742950" y="2800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01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742950" y="3009900"/>
            <a:ext cx="1828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Token 直通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742950" y="3638550"/>
            <a:ext cx="1828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825">
                <a:solidFill>
                  <a:srgbClr val="475569"/>
                </a:solidFill>
              </a:defRPr>
            </a:pPr>
            <a:r>
              <a:rPr sz="1030">
                <a:solidFill>
                  <a:srgbClr val="475569"/>
                </a:solidFill>
              </a:rPr>
              <a:t>AI 按量计费是行业惯例。可直接接入官方 token，透明通道，成本多少就多少，不转售、不截留上下文。</a:t>
            </a:r>
            <a:endParaRPr sz="1030">
              <a:solidFill>
                <a:srgbClr val="475569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2828925" y="2667000"/>
            <a:ext cx="2095500" cy="3048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2828925" y="2667000"/>
            <a:ext cx="28575" cy="30480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2962275" y="2800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02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2962275" y="3009900"/>
            <a:ext cx="1828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托管多端同步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2962275" y="3638550"/>
            <a:ext cx="1828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825">
                <a:solidFill>
                  <a:srgbClr val="475569"/>
                </a:solidFill>
              </a:defRPr>
            </a:pPr>
            <a:r>
              <a:rPr sz="1030">
                <a:solidFill>
                  <a:srgbClr val="475569"/>
                </a:solidFill>
              </a:rPr>
              <a:t>同步本身是免费的：现在用 Git 和 IPFS——去中心化、和个人身份绑定。收费的是「托管版」：不想折腾的人买个省心。</a:t>
            </a:r>
            <a:endParaRPr sz="1030">
              <a:solidFill>
                <a:srgbClr val="475569"/>
              </a:solidFill>
            </a:endParaRPr>
          </a:p>
        </p:txBody>
      </p:sp>
      <p:sp>
        <p:nvSpPr>
          <p:cNvPr id="18" name="圆角矩形 17"/>
          <p:cNvSpPr>
            <a:spLocks noGrp="1"/>
          </p:cNvSpPr>
          <p:nvPr/>
        </p:nvSpPr>
        <p:spPr>
          <a:xfrm>
            <a:off x="5048250" y="2667000"/>
            <a:ext cx="2095500" cy="3048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5048250" y="2667000"/>
            <a:ext cx="28575" cy="30480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0" name="矩形 19"/>
          <p:cNvSpPr>
            <a:spLocks noGrp="1"/>
          </p:cNvSpPr>
          <p:nvPr/>
        </p:nvSpPr>
        <p:spPr>
          <a:xfrm>
            <a:off x="5181600" y="2800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03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21" name="矩形 20"/>
          <p:cNvSpPr>
            <a:spLocks noGrp="1"/>
          </p:cNvSpPr>
          <p:nvPr/>
        </p:nvSpPr>
        <p:spPr>
          <a:xfrm>
            <a:off x="5181600" y="3009900"/>
            <a:ext cx="1828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高级 AI 功能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5181600" y="3638550"/>
            <a:ext cx="1828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825">
                <a:solidFill>
                  <a:srgbClr val="475569"/>
                </a:solidFill>
              </a:defRPr>
            </a:pPr>
            <a:r>
              <a:rPr sz="1030">
                <a:solidFill>
                  <a:srgbClr val="475569"/>
                </a:solidFill>
              </a:rPr>
              <a:t>批量整理、自动化编排、深度复盘等超出日常的增值能力。</a:t>
            </a:r>
            <a:endParaRPr sz="1030">
              <a:solidFill>
                <a:srgbClr val="475569"/>
              </a:solidFill>
            </a:endParaRPr>
          </a:p>
        </p:txBody>
      </p:sp>
      <p:sp>
        <p:nvSpPr>
          <p:cNvPr id="23" name="圆角矩形 22"/>
          <p:cNvSpPr>
            <a:spLocks noGrp="1"/>
          </p:cNvSpPr>
          <p:nvPr/>
        </p:nvSpPr>
        <p:spPr>
          <a:xfrm>
            <a:off x="7267575" y="2667000"/>
            <a:ext cx="2095500" cy="3048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4" name="矩形 23"/>
          <p:cNvSpPr>
            <a:spLocks noGrp="1"/>
          </p:cNvSpPr>
          <p:nvPr/>
        </p:nvSpPr>
        <p:spPr>
          <a:xfrm>
            <a:off x="7267575" y="2667000"/>
            <a:ext cx="28575" cy="30480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400925" y="2800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04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7400925" y="3009900"/>
            <a:ext cx="1828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F172A"/>
                </a:solidFill>
              </a:defRPr>
            </a:pPr>
            <a:r>
              <a:rPr lang="zh-CN" sz="1275" b="1">
                <a:solidFill>
                  <a:srgbClr val="0F172A"/>
                </a:solidFill>
              </a:rPr>
              <a:t>存储</a:t>
            </a:r>
            <a:r>
              <a:rPr lang="en-US" altLang="zh-CN" sz="1275" b="1">
                <a:solidFill>
                  <a:srgbClr val="0F172A"/>
                </a:solidFill>
              </a:rPr>
              <a:t>、</a:t>
            </a:r>
            <a:r>
              <a:rPr sz="1275" b="1">
                <a:solidFill>
                  <a:srgbClr val="0F172A"/>
                </a:solidFill>
              </a:rPr>
              <a:t>向量数据库等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27" name="矩形 26"/>
          <p:cNvSpPr>
            <a:spLocks noGrp="1"/>
          </p:cNvSpPr>
          <p:nvPr/>
        </p:nvSpPr>
        <p:spPr>
          <a:xfrm>
            <a:off x="7400925" y="3638550"/>
            <a:ext cx="1828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825">
                <a:solidFill>
                  <a:srgbClr val="475569"/>
                </a:solidFill>
              </a:defRPr>
            </a:pPr>
            <a:r>
              <a:rPr sz="1030">
                <a:solidFill>
                  <a:srgbClr val="475569"/>
                </a:solidFill>
              </a:rPr>
              <a:t>记忆规模变大后的语义索引加速。本地全文检索永远免费，向量索引是可选项。</a:t>
            </a:r>
            <a:endParaRPr sz="1030">
              <a:solidFill>
                <a:srgbClr val="475569"/>
              </a:solidFill>
            </a:endParaRPr>
          </a:p>
        </p:txBody>
      </p:sp>
      <p:sp>
        <p:nvSpPr>
          <p:cNvPr id="28" name="圆角矩形 27"/>
          <p:cNvSpPr>
            <a:spLocks noGrp="1"/>
          </p:cNvSpPr>
          <p:nvPr/>
        </p:nvSpPr>
        <p:spPr>
          <a:xfrm>
            <a:off x="9486900" y="2667000"/>
            <a:ext cx="2095500" cy="3048000"/>
          </a:xfrm>
          <a:prstGeom prst="roundRect">
            <a:avLst>
              <a:gd name="adj" fmla="val 5455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9486900" y="2667000"/>
            <a:ext cx="28575" cy="30480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30" name="矩形 29"/>
          <p:cNvSpPr>
            <a:spLocks noGrp="1"/>
          </p:cNvSpPr>
          <p:nvPr/>
        </p:nvSpPr>
        <p:spPr>
          <a:xfrm>
            <a:off x="9620250" y="2800350"/>
            <a:ext cx="381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05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31" name="矩形 30"/>
          <p:cNvSpPr>
            <a:spLocks noGrp="1"/>
          </p:cNvSpPr>
          <p:nvPr/>
        </p:nvSpPr>
        <p:spPr>
          <a:xfrm>
            <a:off x="9620250" y="3009900"/>
            <a:ext cx="1828800" cy="571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275" b="1">
                <a:solidFill>
                  <a:srgbClr val="0F172A"/>
                </a:solidFill>
              </a:defRPr>
            </a:pPr>
            <a:r>
              <a:rPr sz="1275" b="1">
                <a:solidFill>
                  <a:srgbClr val="0F172A"/>
                </a:solidFill>
              </a:rPr>
              <a:t>开源 Agent 市场</a:t>
            </a:r>
            <a:endParaRPr sz="1275" b="1">
              <a:solidFill>
                <a:srgbClr val="0F172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9620250" y="3638550"/>
            <a:ext cx="1828800" cy="1905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825">
                <a:solidFill>
                  <a:srgbClr val="475569"/>
                </a:solidFill>
              </a:defRPr>
            </a:pPr>
            <a:r>
              <a:rPr sz="1030">
                <a:solidFill>
                  <a:srgbClr val="475569"/>
                </a:solidFill>
              </a:rPr>
              <a:t>Skill 和 Agent 能力开放生态：第三方开发者发布技能，市场交易分成是长期收入。</a:t>
            </a:r>
            <a:endParaRPr sz="1030">
              <a:solidFill>
                <a:srgbClr val="475569"/>
              </a:solidFill>
            </a:endParaRPr>
          </a:p>
        </p:txBody>
      </p:sp>
      <p:sp>
        <p:nvSpPr>
          <p:cNvPr id="33" name="矩形 32"/>
          <p:cNvSpPr>
            <a:spLocks noGrp="1"/>
          </p:cNvSpPr>
          <p:nvPr/>
        </p:nvSpPr>
        <p:spPr>
          <a:xfrm>
            <a:off x="609600" y="59626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34" name="矩形 33"/>
          <p:cNvSpPr>
            <a:spLocks noGrp="1"/>
          </p:cNvSpPr>
          <p:nvPr/>
        </p:nvSpPr>
        <p:spPr>
          <a:xfrm>
            <a:off x="990600" y="58864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>
                <a:solidFill>
                  <a:srgbClr val="0F172A"/>
                </a:solidFill>
              </a:rPr>
              <a:t>每一类都不碰你的数据——商业模式和产品立场，是</a:t>
            </a:r>
            <a:r>
              <a:rPr sz="1050" b="1">
                <a:solidFill>
                  <a:srgbClr val="6D28D9"/>
                </a:solidFill>
              </a:rPr>
              <a:t>同一件事</a:t>
            </a:r>
            <a:r>
              <a:rPr sz="1050">
                <a:solidFill>
                  <a:srgbClr val="0F172A"/>
                </a:solidFill>
              </a:rPr>
              <a:t>。</a:t>
            </a:r>
            <a:endParaRPr sz="1050">
              <a:solidFill>
                <a:srgbClr val="0F172A"/>
              </a:solidFill>
            </a:endParaRPr>
          </a:p>
        </p:txBody>
      </p:sp>
      <p:sp>
        <p:nvSpPr>
          <p:cNvPr id="35" name="矩形 34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73" name="椭圆 72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lang="en-US" sz="825" b="1">
                <a:solidFill>
                  <a:srgbClr val="64748B"/>
                </a:solidFill>
              </a:rPr>
              <a:t>09</a:t>
            </a:r>
            <a:r>
              <a:rPr sz="825" b="1">
                <a:solidFill>
                  <a:srgbClr val="64748B"/>
                </a:solidFill>
              </a:rPr>
              <a:t> — COMPETITION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COMPETITION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lang="zh-CN" sz="2850" b="1">
                <a:solidFill>
                  <a:srgbClr val="0F172A"/>
                </a:solidFill>
              </a:rPr>
              <a:t>产品卡在了一个特殊的</a:t>
            </a:r>
            <a:r>
              <a:rPr lang="zh-CN" sz="2850" b="1">
                <a:solidFill>
                  <a:srgbClr val="0F172A"/>
                </a:solidFill>
              </a:rPr>
              <a:t>定位</a:t>
            </a:r>
            <a:endParaRPr lang="zh-CN"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This position is currently empty.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262890" y="2571750"/>
            <a:ext cx="2286000" cy="476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415290" y="25717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产品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2548890" y="2571750"/>
            <a:ext cx="2286000" cy="476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</p:sp>
      <p:sp>
        <p:nvSpPr>
          <p:cNvPr id="11" name="矩形 10"/>
          <p:cNvSpPr>
            <a:spLocks noGrp="1"/>
          </p:cNvSpPr>
          <p:nvPr/>
        </p:nvSpPr>
        <p:spPr>
          <a:xfrm>
            <a:off x="2701290" y="25717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数据在哪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4834890" y="2571750"/>
            <a:ext cx="2667000" cy="476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4987290" y="257175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AI 记忆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501890" y="2571750"/>
            <a:ext cx="2667000" cy="476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</p:sp>
      <p:sp>
        <p:nvSpPr>
          <p:cNvPr id="15" name="矩形 14"/>
          <p:cNvSpPr>
            <a:spLocks noGrp="1"/>
          </p:cNvSpPr>
          <p:nvPr/>
        </p:nvSpPr>
        <p:spPr>
          <a:xfrm>
            <a:off x="7654290" y="257175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任务闭环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0168890" y="2571750"/>
            <a:ext cx="1905000" cy="476250"/>
          </a:xfrm>
          <a:prstGeom prst="rect">
            <a:avLst/>
          </a:prstGeom>
          <a:solidFill>
            <a:srgbClr val="0F172A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0321290" y="257175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 b="1">
                <a:solidFill>
                  <a:srgbClr val="FFFFFF"/>
                </a:solidFill>
              </a:defRPr>
            </a:pPr>
            <a:r>
              <a:rPr sz="975" b="1">
                <a:solidFill>
                  <a:srgbClr val="FFFFFF"/>
                </a:solidFill>
              </a:rPr>
              <a:t>开源</a:t>
            </a:r>
            <a:endParaRPr sz="975" b="1">
              <a:solidFill>
                <a:srgbClr val="FFFFFF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262890" y="3048000"/>
            <a:ext cx="2286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19" name="矩形 18"/>
          <p:cNvSpPr>
            <a:spLocks noGrp="1"/>
          </p:cNvSpPr>
          <p:nvPr/>
        </p:nvSpPr>
        <p:spPr>
          <a:xfrm>
            <a:off x="415290" y="30480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钉钉等企业协同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2548890" y="3048000"/>
            <a:ext cx="2286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2701290" y="30480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云端（平台侧）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4834890" y="3048000"/>
            <a:ext cx="2667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3" name="矩形 22"/>
          <p:cNvSpPr>
            <a:spLocks noGrp="1"/>
          </p:cNvSpPr>
          <p:nvPr/>
        </p:nvSpPr>
        <p:spPr>
          <a:xfrm>
            <a:off x="4987290" y="304800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平台侧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7501890" y="3048000"/>
            <a:ext cx="2667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7654290" y="304800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协同任务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10168890" y="3048000"/>
            <a:ext cx="1905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7" name="矩形 26"/>
          <p:cNvSpPr>
            <a:spLocks noGrp="1"/>
          </p:cNvSpPr>
          <p:nvPr/>
        </p:nvSpPr>
        <p:spPr>
          <a:xfrm>
            <a:off x="10321290" y="30480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否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28" name="矩形 27"/>
          <p:cNvSpPr>
            <a:spLocks noGrp="1"/>
          </p:cNvSpPr>
          <p:nvPr/>
        </p:nvSpPr>
        <p:spPr>
          <a:xfrm>
            <a:off x="262890" y="3524250"/>
            <a:ext cx="2286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29" name="矩形 28"/>
          <p:cNvSpPr>
            <a:spLocks noGrp="1"/>
          </p:cNvSpPr>
          <p:nvPr/>
        </p:nvSpPr>
        <p:spPr>
          <a:xfrm>
            <a:off x="415290" y="35242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Notion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30" name="矩形 29"/>
          <p:cNvSpPr>
            <a:spLocks noGrp="1"/>
          </p:cNvSpPr>
          <p:nvPr/>
        </p:nvSpPr>
        <p:spPr>
          <a:xfrm>
            <a:off x="2548890" y="3524250"/>
            <a:ext cx="2286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31" name="矩形 30"/>
          <p:cNvSpPr>
            <a:spLocks noGrp="1"/>
          </p:cNvSpPr>
          <p:nvPr/>
        </p:nvSpPr>
        <p:spPr>
          <a:xfrm>
            <a:off x="2701290" y="35242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云端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32" name="矩形 31"/>
          <p:cNvSpPr>
            <a:spLocks noGrp="1"/>
          </p:cNvSpPr>
          <p:nvPr/>
        </p:nvSpPr>
        <p:spPr>
          <a:xfrm>
            <a:off x="4834890" y="3524250"/>
            <a:ext cx="2667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33" name="矩形 32"/>
          <p:cNvSpPr>
            <a:spLocks noGrp="1"/>
          </p:cNvSpPr>
          <p:nvPr/>
        </p:nvSpPr>
        <p:spPr>
          <a:xfrm>
            <a:off x="4987290" y="352425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平台侧 AI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34" name="矩形 33"/>
          <p:cNvSpPr>
            <a:spLocks noGrp="1"/>
          </p:cNvSpPr>
          <p:nvPr/>
        </p:nvSpPr>
        <p:spPr>
          <a:xfrm>
            <a:off x="7501890" y="3524250"/>
            <a:ext cx="2667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35" name="矩形 34"/>
          <p:cNvSpPr>
            <a:spLocks noGrp="1"/>
          </p:cNvSpPr>
          <p:nvPr/>
        </p:nvSpPr>
        <p:spPr>
          <a:xfrm>
            <a:off x="7654290" y="352425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弱（数据库型）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36" name="矩形 35"/>
          <p:cNvSpPr>
            <a:spLocks noGrp="1"/>
          </p:cNvSpPr>
          <p:nvPr/>
        </p:nvSpPr>
        <p:spPr>
          <a:xfrm>
            <a:off x="10168890" y="3524250"/>
            <a:ext cx="1905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37" name="矩形 36"/>
          <p:cNvSpPr>
            <a:spLocks noGrp="1"/>
          </p:cNvSpPr>
          <p:nvPr/>
        </p:nvSpPr>
        <p:spPr>
          <a:xfrm>
            <a:off x="10321290" y="352425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否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38" name="矩形 37"/>
          <p:cNvSpPr>
            <a:spLocks noGrp="1"/>
          </p:cNvSpPr>
          <p:nvPr/>
        </p:nvSpPr>
        <p:spPr>
          <a:xfrm>
            <a:off x="262890" y="4000500"/>
            <a:ext cx="2286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39" name="矩形 38"/>
          <p:cNvSpPr>
            <a:spLocks noGrp="1"/>
          </p:cNvSpPr>
          <p:nvPr/>
        </p:nvSpPr>
        <p:spPr>
          <a:xfrm>
            <a:off x="415290" y="40005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Obsidian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40" name="矩形 39"/>
          <p:cNvSpPr>
            <a:spLocks noGrp="1"/>
          </p:cNvSpPr>
          <p:nvPr/>
        </p:nvSpPr>
        <p:spPr>
          <a:xfrm>
            <a:off x="2548890" y="4000500"/>
            <a:ext cx="2286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41" name="矩形 40"/>
          <p:cNvSpPr>
            <a:spLocks noGrp="1"/>
          </p:cNvSpPr>
          <p:nvPr/>
        </p:nvSpPr>
        <p:spPr>
          <a:xfrm>
            <a:off x="2701290" y="40005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本地 ✓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42" name="矩形 41"/>
          <p:cNvSpPr>
            <a:spLocks noGrp="1"/>
          </p:cNvSpPr>
          <p:nvPr/>
        </p:nvSpPr>
        <p:spPr>
          <a:xfrm>
            <a:off x="4834890" y="4000500"/>
            <a:ext cx="2667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43" name="矩形 42"/>
          <p:cNvSpPr>
            <a:spLocks noGrp="1"/>
          </p:cNvSpPr>
          <p:nvPr/>
        </p:nvSpPr>
        <p:spPr>
          <a:xfrm>
            <a:off x="4987290" y="400050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靠插件，无内置闭环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44" name="矩形 43"/>
          <p:cNvSpPr>
            <a:spLocks noGrp="1"/>
          </p:cNvSpPr>
          <p:nvPr/>
        </p:nvSpPr>
        <p:spPr>
          <a:xfrm>
            <a:off x="7501890" y="4000500"/>
            <a:ext cx="2667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45" name="矩形 44"/>
          <p:cNvSpPr>
            <a:spLocks noGrp="1"/>
          </p:cNvSpPr>
          <p:nvPr/>
        </p:nvSpPr>
        <p:spPr>
          <a:xfrm>
            <a:off x="7654290" y="400050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弱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46" name="矩形 45"/>
          <p:cNvSpPr>
            <a:spLocks noGrp="1"/>
          </p:cNvSpPr>
          <p:nvPr/>
        </p:nvSpPr>
        <p:spPr>
          <a:xfrm>
            <a:off x="10168890" y="4000500"/>
            <a:ext cx="1905000" cy="476250"/>
          </a:xfrm>
          <a:prstGeom prst="rect">
            <a:avLst/>
          </a:prstGeom>
          <a:solidFill>
            <a:srgbClr val="F8FAFC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47" name="矩形 46"/>
          <p:cNvSpPr>
            <a:spLocks noGrp="1"/>
          </p:cNvSpPr>
          <p:nvPr/>
        </p:nvSpPr>
        <p:spPr>
          <a:xfrm>
            <a:off x="10321290" y="40005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否（免费但闭源）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48" name="矩形 47"/>
          <p:cNvSpPr>
            <a:spLocks noGrp="1"/>
          </p:cNvSpPr>
          <p:nvPr/>
        </p:nvSpPr>
        <p:spPr>
          <a:xfrm>
            <a:off x="262890" y="4476750"/>
            <a:ext cx="2286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49" name="矩形 48"/>
          <p:cNvSpPr>
            <a:spLocks noGrp="1"/>
          </p:cNvSpPr>
          <p:nvPr/>
        </p:nvSpPr>
        <p:spPr>
          <a:xfrm>
            <a:off x="415290" y="44767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云端 AI 助手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50" name="矩形 49"/>
          <p:cNvSpPr>
            <a:spLocks noGrp="1"/>
          </p:cNvSpPr>
          <p:nvPr/>
        </p:nvSpPr>
        <p:spPr>
          <a:xfrm>
            <a:off x="2548890" y="4476750"/>
            <a:ext cx="2286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51" name="矩形 50"/>
          <p:cNvSpPr>
            <a:spLocks noGrp="1"/>
          </p:cNvSpPr>
          <p:nvPr/>
        </p:nvSpPr>
        <p:spPr>
          <a:xfrm>
            <a:off x="2701290" y="447675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云端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52" name="矩形 51"/>
          <p:cNvSpPr>
            <a:spLocks noGrp="1"/>
          </p:cNvSpPr>
          <p:nvPr/>
        </p:nvSpPr>
        <p:spPr>
          <a:xfrm>
            <a:off x="4834890" y="4476750"/>
            <a:ext cx="2667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53" name="矩形 52"/>
          <p:cNvSpPr>
            <a:spLocks noGrp="1"/>
          </p:cNvSpPr>
          <p:nvPr/>
        </p:nvSpPr>
        <p:spPr>
          <a:xfrm>
            <a:off x="4987290" y="447675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聊完就忘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54" name="矩形 53"/>
          <p:cNvSpPr>
            <a:spLocks noGrp="1"/>
          </p:cNvSpPr>
          <p:nvPr/>
        </p:nvSpPr>
        <p:spPr>
          <a:xfrm>
            <a:off x="7501890" y="4476750"/>
            <a:ext cx="2667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55" name="矩形 54"/>
          <p:cNvSpPr>
            <a:spLocks noGrp="1"/>
          </p:cNvSpPr>
          <p:nvPr/>
        </p:nvSpPr>
        <p:spPr>
          <a:xfrm>
            <a:off x="7654290" y="447675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无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56" name="矩形 55"/>
          <p:cNvSpPr>
            <a:spLocks noGrp="1"/>
          </p:cNvSpPr>
          <p:nvPr/>
        </p:nvSpPr>
        <p:spPr>
          <a:xfrm>
            <a:off x="10168890" y="4476750"/>
            <a:ext cx="1905000" cy="476250"/>
          </a:xfrm>
          <a:prstGeom prst="rect">
            <a:avLst/>
          </a:prstGeom>
          <a:solidFill>
            <a:srgbClr val="FFFFFF"/>
          </a:solidFill>
          <a:ln w="4763">
            <a:solidFill>
              <a:srgbClr val="E2E8F0"/>
            </a:solidFill>
            <a:prstDash val="solid"/>
          </a:ln>
        </p:spPr>
      </p:sp>
      <p:sp>
        <p:nvSpPr>
          <p:cNvPr id="57" name="矩形 56"/>
          <p:cNvSpPr>
            <a:spLocks noGrp="1"/>
          </p:cNvSpPr>
          <p:nvPr/>
        </p:nvSpPr>
        <p:spPr>
          <a:xfrm>
            <a:off x="10321290" y="447675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75">
                <a:solidFill>
                  <a:srgbClr val="0F172A"/>
                </a:solidFill>
              </a:defRPr>
            </a:pPr>
            <a:r>
              <a:rPr sz="975">
                <a:solidFill>
                  <a:srgbClr val="0F172A"/>
                </a:solidFill>
              </a:rPr>
              <a:t>否</a:t>
            </a:r>
            <a:endParaRPr sz="975">
              <a:solidFill>
                <a:srgbClr val="0F172A"/>
              </a:solidFill>
            </a:endParaRPr>
          </a:p>
        </p:txBody>
      </p:sp>
      <p:sp>
        <p:nvSpPr>
          <p:cNvPr id="58" name="矩形 57"/>
          <p:cNvSpPr>
            <a:spLocks noGrp="1"/>
          </p:cNvSpPr>
          <p:nvPr/>
        </p:nvSpPr>
        <p:spPr>
          <a:xfrm>
            <a:off x="262890" y="4953000"/>
            <a:ext cx="2286000" cy="4762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9" name="矩形 58"/>
          <p:cNvSpPr>
            <a:spLocks noGrp="1"/>
          </p:cNvSpPr>
          <p:nvPr/>
        </p:nvSpPr>
        <p:spPr>
          <a:xfrm>
            <a:off x="415290" y="49530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DailyFlow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0" name="矩形 59"/>
          <p:cNvSpPr>
            <a:spLocks noGrp="1"/>
          </p:cNvSpPr>
          <p:nvPr/>
        </p:nvSpPr>
        <p:spPr>
          <a:xfrm>
            <a:off x="2548890" y="4953000"/>
            <a:ext cx="2286000" cy="4762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61" name="矩形 60"/>
          <p:cNvSpPr>
            <a:spLocks noGrp="1"/>
          </p:cNvSpPr>
          <p:nvPr/>
        </p:nvSpPr>
        <p:spPr>
          <a:xfrm>
            <a:off x="2701290" y="4953000"/>
            <a:ext cx="1981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本地 Markdown ✓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2" name="矩形 61"/>
          <p:cNvSpPr>
            <a:spLocks noGrp="1"/>
          </p:cNvSpPr>
          <p:nvPr/>
        </p:nvSpPr>
        <p:spPr>
          <a:xfrm>
            <a:off x="4834890" y="4953000"/>
            <a:ext cx="2667000" cy="4762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63" name="矩形 62"/>
          <p:cNvSpPr>
            <a:spLocks noGrp="1"/>
          </p:cNvSpPr>
          <p:nvPr/>
        </p:nvSpPr>
        <p:spPr>
          <a:xfrm>
            <a:off x="4987290" y="495300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证据记忆，越用越懂你 ✓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4" name="矩形 63"/>
          <p:cNvSpPr>
            <a:spLocks noGrp="1"/>
          </p:cNvSpPr>
          <p:nvPr/>
        </p:nvSpPr>
        <p:spPr>
          <a:xfrm>
            <a:off x="7501890" y="4953000"/>
            <a:ext cx="2667000" cy="4762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65" name="矩形 64"/>
          <p:cNvSpPr>
            <a:spLocks noGrp="1"/>
          </p:cNvSpPr>
          <p:nvPr/>
        </p:nvSpPr>
        <p:spPr>
          <a:xfrm>
            <a:off x="7654290" y="4953000"/>
            <a:ext cx="2362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脑图 → 任务 → 复盘 ✓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6" name="矩形 65"/>
          <p:cNvSpPr>
            <a:spLocks noGrp="1"/>
          </p:cNvSpPr>
          <p:nvPr/>
        </p:nvSpPr>
        <p:spPr>
          <a:xfrm>
            <a:off x="10168890" y="4953000"/>
            <a:ext cx="1905000" cy="4762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67" name="矩形 66"/>
          <p:cNvSpPr>
            <a:spLocks noGrp="1"/>
          </p:cNvSpPr>
          <p:nvPr/>
        </p:nvSpPr>
        <p:spPr>
          <a:xfrm>
            <a:off x="10321290" y="4953000"/>
            <a:ext cx="1600200" cy="476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FFFFFF"/>
                </a:solidFill>
              </a:defRPr>
            </a:pPr>
            <a:r>
              <a:rPr sz="1050" b="1">
                <a:solidFill>
                  <a:srgbClr val="FFFFFF"/>
                </a:solidFill>
              </a:rPr>
              <a:t>Apache-2.0 ✓</a:t>
            </a:r>
            <a:endParaRPr sz="1050" b="1">
              <a:solidFill>
                <a:srgbClr val="FFFFFF"/>
              </a:solidFill>
            </a:endParaRPr>
          </a:p>
        </p:txBody>
      </p:sp>
      <p:sp>
        <p:nvSpPr>
          <p:cNvPr id="68" name="矩形 67"/>
          <p:cNvSpPr>
            <a:spLocks noGrp="1"/>
          </p:cNvSpPr>
          <p:nvPr/>
        </p:nvSpPr>
        <p:spPr>
          <a:xfrm>
            <a:off x="609600" y="588137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69" name="矩形 68"/>
          <p:cNvSpPr>
            <a:spLocks noGrp="1"/>
          </p:cNvSpPr>
          <p:nvPr/>
        </p:nvSpPr>
        <p:spPr>
          <a:xfrm>
            <a:off x="990600" y="580517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>
                <a:solidFill>
                  <a:srgbClr val="0F172A"/>
                </a:solidFill>
              </a:rPr>
              <a:t>云端的帮你做事，但不让你积累；本地的让你积累，但不管执行。两头都占的，目前只有 </a:t>
            </a:r>
            <a:r>
              <a:rPr sz="1050" b="1">
                <a:solidFill>
                  <a:srgbClr val="6D28D9"/>
                </a:solidFill>
              </a:rPr>
              <a:t>DailyFlow</a:t>
            </a:r>
            <a:r>
              <a:rPr sz="1050">
                <a:solidFill>
                  <a:srgbClr val="0F172A"/>
                </a:solidFill>
              </a:rPr>
              <a:t>。</a:t>
            </a:r>
            <a:endParaRPr sz="1050">
              <a:solidFill>
                <a:srgbClr val="0F172A"/>
              </a:solidFill>
            </a:endParaRPr>
          </a:p>
        </p:txBody>
      </p:sp>
      <p:sp>
        <p:nvSpPr>
          <p:cNvPr id="70" name="矩形 69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5" name="椭圆 24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lang="en-US" sz="825" b="1">
                <a:solidFill>
                  <a:srgbClr val="64748B"/>
                </a:solidFill>
              </a:rPr>
              <a:t>10</a:t>
            </a:r>
            <a:r>
              <a:rPr sz="825" b="1">
                <a:solidFill>
                  <a:srgbClr val="64748B"/>
                </a:solidFill>
              </a:rPr>
              <a:t> — THE VISION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THE VISION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这些设计加在一起，是什么？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What does it add up to? Your personal AI asset base.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1434465" y="2572385"/>
            <a:ext cx="57150" cy="838200"/>
          </a:xfrm>
          <a:prstGeom prst="rect">
            <a:avLst/>
          </a:prstGeom>
          <a:solidFill>
            <a:srgbClr val="94A3B8"/>
          </a:solidFill>
          <a:ln w="0">
            <a:noFill/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1663065" y="2648585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01 · 模型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663065" y="2839085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模型在贬值</a:t>
            </a:r>
            <a:endParaRPr sz="1950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5015865" y="2743835"/>
            <a:ext cx="739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15+ 家供应商跑在同一接口后面，聪明不再是壁垒，随时可换。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2" name="矩形 11"/>
          <p:cNvSpPr>
            <a:spLocks noGrp="1"/>
          </p:cNvSpPr>
          <p:nvPr/>
        </p:nvSpPr>
        <p:spPr>
          <a:xfrm>
            <a:off x="1434465" y="3562985"/>
            <a:ext cx="57150" cy="838200"/>
          </a:xfrm>
          <a:prstGeom prst="rect">
            <a:avLst/>
          </a:prstGeom>
          <a:solidFill>
            <a:srgbClr val="94A3B8"/>
          </a:solidFill>
          <a:ln w="0">
            <a:noFill/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1663065" y="3639185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02 · 云端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1663065" y="3829685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云端在失忆</a:t>
            </a:r>
            <a:endParaRPr sz="195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5015865" y="3734435"/>
            <a:ext cx="739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订阅制 AI 不会为你积累任何东西——这是它的商业模式决定的。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16" name="矩形 15"/>
          <p:cNvSpPr>
            <a:spLocks noGrp="1"/>
          </p:cNvSpPr>
          <p:nvPr/>
        </p:nvSpPr>
        <p:spPr>
          <a:xfrm>
            <a:off x="1434465" y="4553585"/>
            <a:ext cx="57150" cy="83820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1663065" y="4629785"/>
            <a:ext cx="1905000" cy="1714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750" b="1">
                <a:solidFill>
                  <a:srgbClr val="6D28D9"/>
                </a:solidFill>
              </a:defRPr>
            </a:pPr>
            <a:r>
              <a:rPr sz="750" b="1">
                <a:solidFill>
                  <a:srgbClr val="6D28D9"/>
                </a:solidFill>
              </a:rPr>
              <a:t>03 · DailyFlow 用户</a:t>
            </a:r>
            <a:endParaRPr sz="750" b="1">
              <a:solidFill>
                <a:srgbClr val="6D28D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663065" y="4820285"/>
            <a:ext cx="3048000" cy="5334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950" b="1">
                <a:solidFill>
                  <a:srgbClr val="0F172A"/>
                </a:solidFill>
              </a:defRPr>
            </a:pPr>
            <a:r>
              <a:rPr sz="1950" b="1">
                <a:solidFill>
                  <a:srgbClr val="0F172A"/>
                </a:solidFill>
              </a:rPr>
              <a:t>DailyFlow 用户在积累</a:t>
            </a:r>
            <a:endParaRPr sz="195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5015865" y="4725035"/>
            <a:ext cx="7391400" cy="685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125">
                <a:solidFill>
                  <a:srgbClr val="475569"/>
                </a:solidFill>
              </a:defRPr>
            </a:pPr>
            <a:r>
              <a:rPr sz="1125">
                <a:solidFill>
                  <a:srgbClr val="475569"/>
                </a:solidFill>
              </a:rPr>
              <a:t>每天的决策、承诺、会议原文都留在本地文件里；模型随便换，记忆不动。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59626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990600" y="5886450"/>
            <a:ext cx="10477500" cy="3048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>
                <a:solidFill>
                  <a:srgbClr val="0F172A"/>
                </a:solidFill>
              </a:rPr>
              <a:t>AI 时代，每个人都需要一个自己的</a:t>
            </a:r>
            <a:r>
              <a:rPr sz="1050" b="1">
                <a:solidFill>
                  <a:srgbClr val="6D28D9"/>
                </a:solidFill>
              </a:rPr>
              <a:t>资产基地</a:t>
            </a:r>
            <a:r>
              <a:rPr sz="1050">
                <a:solidFill>
                  <a:srgbClr val="0F172A"/>
                </a:solidFill>
              </a:rPr>
              <a:t>——数据在你这里，规则由你定，AI 为你工作。这就是 DailyFlow。</a:t>
            </a:r>
            <a:endParaRPr sz="1050">
              <a:solidFill>
                <a:srgbClr val="0F172A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9" name="椭圆 28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lang="en-US" sz="825" b="1">
                <a:solidFill>
                  <a:srgbClr val="64748B"/>
                </a:solidFill>
              </a:rPr>
              <a:t>11</a:t>
            </a:r>
            <a:r>
              <a:rPr sz="825" b="1">
                <a:solidFill>
                  <a:srgbClr val="64748B"/>
                </a:solidFill>
              </a:rPr>
              <a:t> — MOAT</a:t>
            </a:r>
            <a:endParaRPr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sz="825" b="1">
                <a:solidFill>
                  <a:srgbClr val="6D28D9"/>
                </a:solidFill>
              </a:rPr>
              <a:t>MOAT</a:t>
            </a:r>
            <a:endParaRPr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sz="2850" b="1">
                <a:solidFill>
                  <a:srgbClr val="0F172A"/>
                </a:solidFill>
              </a:rPr>
              <a:t>为什么这个位置难以复制。</a:t>
            </a:r>
            <a:endParaRPr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Why this position is hard to copy.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8" name="圆角矩形 7"/>
          <p:cNvSpPr>
            <a:spLocks noGrp="1"/>
          </p:cNvSpPr>
          <p:nvPr/>
        </p:nvSpPr>
        <p:spPr>
          <a:xfrm>
            <a:off x="609600" y="2667000"/>
            <a:ext cx="5524500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9" name="矩形 8"/>
          <p:cNvSpPr>
            <a:spLocks noGrp="1"/>
          </p:cNvSpPr>
          <p:nvPr/>
        </p:nvSpPr>
        <p:spPr>
          <a:xfrm>
            <a:off x="838200" y="28765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01</a:t>
            </a:r>
            <a:endParaRPr sz="1050" b="1">
              <a:solidFill>
                <a:srgbClr val="6D28D9"/>
              </a:solidFill>
            </a:endParaRPr>
          </a:p>
        </p:txBody>
      </p:sp>
      <p:sp>
        <p:nvSpPr>
          <p:cNvPr id="10" name="矩形 9"/>
          <p:cNvSpPr>
            <a:spLocks noGrp="1"/>
          </p:cNvSpPr>
          <p:nvPr/>
        </p:nvSpPr>
        <p:spPr>
          <a:xfrm>
            <a:off x="1466850" y="2857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数据复利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838200" y="3333750"/>
            <a:ext cx="506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05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用户第 365 天的体验建立在 365 天的个人数据上。功能可以抄，用户攒下的东西抄不走。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12" name="圆角矩形 11"/>
          <p:cNvSpPr>
            <a:spLocks noGrp="1"/>
          </p:cNvSpPr>
          <p:nvPr/>
        </p:nvSpPr>
        <p:spPr>
          <a:xfrm>
            <a:off x="6248400" y="2667000"/>
            <a:ext cx="5524500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3" name="矩形 12"/>
          <p:cNvSpPr>
            <a:spLocks noGrp="1"/>
          </p:cNvSpPr>
          <p:nvPr/>
        </p:nvSpPr>
        <p:spPr>
          <a:xfrm>
            <a:off x="6477000" y="287655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02</a:t>
            </a:r>
            <a:endParaRPr sz="1050" b="1">
              <a:solidFill>
                <a:srgbClr val="6D28D9"/>
              </a:solidFill>
            </a:endParaRPr>
          </a:p>
        </p:txBody>
      </p:sp>
      <p:sp>
        <p:nvSpPr>
          <p:cNvPr id="14" name="矩形 13"/>
          <p:cNvSpPr>
            <a:spLocks noGrp="1"/>
          </p:cNvSpPr>
          <p:nvPr/>
        </p:nvSpPr>
        <p:spPr>
          <a:xfrm>
            <a:off x="7105650" y="285750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开源信任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5" name="矩形 14"/>
          <p:cNvSpPr>
            <a:spLocks noGrp="1"/>
          </p:cNvSpPr>
          <p:nvPr/>
        </p:nvSpPr>
        <p:spPr>
          <a:xfrm>
            <a:off x="6477000" y="3333750"/>
            <a:ext cx="506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05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处理私密记忆的产品，信任是入口；开源是最贵的信任凭证，我们愿意付这个代价。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16" name="圆角矩形 15"/>
          <p:cNvSpPr>
            <a:spLocks noGrp="1"/>
          </p:cNvSpPr>
          <p:nvPr/>
        </p:nvSpPr>
        <p:spPr>
          <a:xfrm>
            <a:off x="609600" y="4400550"/>
            <a:ext cx="5524500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7" name="矩形 16"/>
          <p:cNvSpPr>
            <a:spLocks noGrp="1"/>
          </p:cNvSpPr>
          <p:nvPr/>
        </p:nvSpPr>
        <p:spPr>
          <a:xfrm>
            <a:off x="838200" y="46101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03</a:t>
            </a:r>
            <a:endParaRPr sz="1050" b="1">
              <a:solidFill>
                <a:srgbClr val="6D28D9"/>
              </a:solidFill>
            </a:endParaRPr>
          </a:p>
        </p:txBody>
      </p:sp>
      <p:sp>
        <p:nvSpPr>
          <p:cNvPr id="18" name="矩形 17"/>
          <p:cNvSpPr>
            <a:spLocks noGrp="1"/>
          </p:cNvSpPr>
          <p:nvPr/>
        </p:nvSpPr>
        <p:spPr>
          <a:xfrm>
            <a:off x="1466850" y="45910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清晰的架构模式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19" name="矩形 18"/>
          <p:cNvSpPr>
            <a:spLocks noGrp="1"/>
          </p:cNvSpPr>
          <p:nvPr/>
        </p:nvSpPr>
        <p:spPr>
          <a:xfrm>
            <a:off x="838200" y="5067300"/>
            <a:ext cx="506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050">
                <a:solidFill>
                  <a:srgbClr val="475569"/>
                </a:solidFill>
              </a:defRPr>
            </a:pPr>
            <a:r>
              <a:rPr sz="1200">
                <a:solidFill>
                  <a:srgbClr val="475569"/>
                </a:solidFill>
              </a:rPr>
              <a:t>规则引擎在前、建议单确认、服务分层清晰。功能快速长出来而不失控，二次开发成本足够低。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20" name="圆角矩形 19"/>
          <p:cNvSpPr>
            <a:spLocks noGrp="1"/>
          </p:cNvSpPr>
          <p:nvPr/>
        </p:nvSpPr>
        <p:spPr>
          <a:xfrm>
            <a:off x="6248400" y="4400550"/>
            <a:ext cx="5524500" cy="1619250"/>
          </a:xfrm>
          <a:prstGeom prst="roundRect">
            <a:avLst>
              <a:gd name="adj" fmla="val 8235"/>
            </a:avLst>
          </a:prstGeom>
          <a:solidFill>
            <a:srgbClr val="F8FAFC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21" name="矩形 20"/>
          <p:cNvSpPr>
            <a:spLocks noGrp="1"/>
          </p:cNvSpPr>
          <p:nvPr/>
        </p:nvSpPr>
        <p:spPr>
          <a:xfrm>
            <a:off x="6477000" y="4610100"/>
            <a:ext cx="571500" cy="285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b="1">
                <a:solidFill>
                  <a:srgbClr val="6D28D9"/>
                </a:solidFill>
              </a:defRPr>
            </a:pPr>
            <a:r>
              <a:rPr sz="1050" b="1">
                <a:solidFill>
                  <a:srgbClr val="6D28D9"/>
                </a:solidFill>
              </a:rPr>
              <a:t>04</a:t>
            </a:r>
            <a:endParaRPr sz="1050" b="1">
              <a:solidFill>
                <a:srgbClr val="6D28D9"/>
              </a:solidFill>
            </a:endParaRPr>
          </a:p>
        </p:txBody>
      </p:sp>
      <p:sp>
        <p:nvSpPr>
          <p:cNvPr id="22" name="矩形 21"/>
          <p:cNvSpPr>
            <a:spLocks noGrp="1"/>
          </p:cNvSpPr>
          <p:nvPr/>
        </p:nvSpPr>
        <p:spPr>
          <a:xfrm>
            <a:off x="7105650" y="4591050"/>
            <a:ext cx="447675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650" b="1">
                <a:solidFill>
                  <a:srgbClr val="0F172A"/>
                </a:solidFill>
              </a:defRPr>
            </a:pPr>
            <a:r>
              <a:rPr sz="1650" b="1">
                <a:solidFill>
                  <a:srgbClr val="0F172A"/>
                </a:solidFill>
              </a:rPr>
              <a:t>迭代速度</a:t>
            </a:r>
            <a:endParaRPr sz="1650" b="1">
              <a:solidFill>
                <a:srgbClr val="0F172A"/>
              </a:solidFill>
            </a:endParaRPr>
          </a:p>
        </p:txBody>
      </p:sp>
      <p:sp>
        <p:nvSpPr>
          <p:cNvPr id="23" name="矩形 22"/>
          <p:cNvSpPr>
            <a:spLocks noGrp="1"/>
          </p:cNvSpPr>
          <p:nvPr/>
        </p:nvSpPr>
        <p:spPr>
          <a:xfrm>
            <a:off x="6477000" y="5067300"/>
            <a:ext cx="5067300" cy="8572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lnSpc>
                <a:spcPct val="150000"/>
              </a:lnSpc>
              <a:defRPr sz="1050">
                <a:solidFill>
                  <a:srgbClr val="475569"/>
                </a:solidFill>
              </a:defRPr>
            </a:pPr>
            <a:r>
              <a:rPr lang="en-US" sz="1200">
                <a:solidFill>
                  <a:srgbClr val="475569"/>
                </a:solidFill>
              </a:rPr>
              <a:t>2</a:t>
            </a:r>
            <a:r>
              <a:rPr sz="1200">
                <a:solidFill>
                  <a:srgbClr val="475569"/>
                </a:solidFill>
              </a:rPr>
              <a:t>个月，从 CLI 到 v1.</a:t>
            </a:r>
            <a:r>
              <a:rPr lang="en-US" sz="1200">
                <a:solidFill>
                  <a:srgbClr val="475569"/>
                </a:solidFill>
              </a:rPr>
              <a:t>9</a:t>
            </a:r>
            <a:r>
              <a:rPr sz="1200">
                <a:solidFill>
                  <a:srgbClr val="475569"/>
                </a:solidFill>
              </a:rPr>
              <a:t>.0，</a:t>
            </a:r>
            <a:r>
              <a:rPr lang="en-US" sz="1200">
                <a:solidFill>
                  <a:srgbClr val="475569"/>
                </a:solidFill>
              </a:rPr>
              <a:t>80+</a:t>
            </a:r>
            <a:r>
              <a:rPr lang="zh-CN" altLang="en-US" sz="1200">
                <a:solidFill>
                  <a:srgbClr val="475569"/>
                </a:solidFill>
              </a:rPr>
              <a:t>版本发布</a:t>
            </a:r>
            <a:r>
              <a:rPr sz="1200">
                <a:solidFill>
                  <a:srgbClr val="475569"/>
                </a:solidFill>
              </a:rPr>
              <a:t>；本地优先没有云端成本拖累。</a:t>
            </a:r>
            <a:endParaRPr sz="1200">
              <a:solidFill>
                <a:srgbClr val="475569"/>
              </a:solidFill>
            </a:endParaRPr>
          </a:p>
        </p:txBody>
      </p:sp>
      <p:sp>
        <p:nvSpPr>
          <p:cNvPr id="24" name="矩形 23"/>
          <p:cNvSpPr>
            <a:spLocks noGrp="1"/>
          </p:cNvSpPr>
          <p:nvPr/>
        </p:nvSpPr>
        <p:spPr>
          <a:xfrm>
            <a:off x="609600" y="628650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5" name="矩形 24"/>
          <p:cNvSpPr>
            <a:spLocks noGrp="1"/>
          </p:cNvSpPr>
          <p:nvPr/>
        </p:nvSpPr>
        <p:spPr>
          <a:xfrm>
            <a:off x="990600" y="6229350"/>
            <a:ext cx="104775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900">
                <a:solidFill>
                  <a:srgbClr val="0F172A"/>
                </a:solidFill>
              </a:defRPr>
            </a:pPr>
            <a:r>
              <a:rPr sz="900">
                <a:solidFill>
                  <a:srgbClr val="0F172A"/>
                </a:solidFill>
              </a:rPr>
              <a:t>4 个位置 · 任何一个都难抄走 · 用户在中间。</a:t>
            </a:r>
            <a:endParaRPr sz="900">
              <a:solidFill>
                <a:srgbClr val="0F172A"/>
              </a:solidFill>
            </a:endParaRPr>
          </a:p>
        </p:txBody>
      </p:sp>
      <p:sp>
        <p:nvSpPr>
          <p:cNvPr id="26" name="矩形 25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3" name="椭圆 22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2" name="矩形 1"/>
          <p:cNvSpPr>
            <a:spLocks noGrp="1"/>
          </p:cNvSpPr>
          <p:nvPr/>
        </p:nvSpPr>
        <p:spPr>
          <a:xfrm>
            <a:off x="723900" y="266700"/>
            <a:ext cx="85725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4748B"/>
                </a:solidFill>
              </a:defRPr>
            </a:pPr>
            <a:r>
              <a:rPr lang="en-US" sz="825" b="1">
                <a:solidFill>
                  <a:srgbClr val="64748B"/>
                </a:solidFill>
              </a:rPr>
              <a:t>12</a:t>
            </a:r>
            <a:r>
              <a:rPr sz="825" b="1">
                <a:solidFill>
                  <a:srgbClr val="64748B"/>
                </a:solidFill>
              </a:rPr>
              <a:t>—</a:t>
            </a:r>
            <a:r>
              <a:rPr lang="en-US" sz="825" b="1">
                <a:solidFill>
                  <a:srgbClr val="64748B"/>
                </a:solidFill>
              </a:rPr>
              <a:t> </a:t>
            </a:r>
            <a:r>
              <a:rPr lang="en-US" sz="825" b="1">
                <a:solidFill>
                  <a:srgbClr val="64748B"/>
                </a:solidFill>
              </a:rPr>
              <a:t>Team</a:t>
            </a:r>
            <a:endParaRPr lang="en-US" sz="825" b="1">
              <a:solidFill>
                <a:srgbClr val="64748B"/>
              </a:solidFill>
            </a:endParaRPr>
          </a:p>
        </p:txBody>
      </p:sp>
      <p:sp>
        <p:nvSpPr>
          <p:cNvPr id="3" name="矩形 2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94A3B8"/>
                </a:solidFill>
              </a:defRPr>
            </a:pPr>
            <a:r>
              <a:rPr sz="750" b="1">
                <a:solidFill>
                  <a:srgbClr val="94A3B8"/>
                </a:solidFill>
              </a:rPr>
              <a:t>DAILYFLOW · 2026</a:t>
            </a:r>
            <a:endParaRPr sz="750" b="1">
              <a:solidFill>
                <a:srgbClr val="94A3B8"/>
              </a:solidFill>
            </a:endParaRPr>
          </a:p>
        </p:txBody>
      </p:sp>
      <p:sp>
        <p:nvSpPr>
          <p:cNvPr id="4" name="矩形 3"/>
          <p:cNvSpPr>
            <a:spLocks noGrp="1"/>
          </p:cNvSpPr>
          <p:nvPr/>
        </p:nvSpPr>
        <p:spPr>
          <a:xfrm>
            <a:off x="609600" y="1047750"/>
            <a:ext cx="266700" cy="23813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5" name="矩形 4"/>
          <p:cNvSpPr>
            <a:spLocks noGrp="1"/>
          </p:cNvSpPr>
          <p:nvPr/>
        </p:nvSpPr>
        <p:spPr>
          <a:xfrm>
            <a:off x="990600" y="952500"/>
            <a:ext cx="76200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825" b="1">
                <a:solidFill>
                  <a:srgbClr val="6D28D9"/>
                </a:solidFill>
              </a:defRPr>
            </a:pPr>
            <a:r>
              <a:rPr lang="en-US" altLang="zh-CN" sz="825" b="1">
                <a:solidFill>
                  <a:srgbClr val="6D28D9"/>
                </a:solidFill>
              </a:rPr>
              <a:t>Team</a:t>
            </a:r>
            <a:endParaRPr lang="en-US" altLang="zh-CN" sz="825" b="1">
              <a:solidFill>
                <a:srgbClr val="6D28D9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609600" y="1333500"/>
            <a:ext cx="10477500" cy="666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lang="zh-CN" sz="2850" b="1">
                <a:solidFill>
                  <a:srgbClr val="0F172A"/>
                </a:solidFill>
              </a:rPr>
              <a:t>关于</a:t>
            </a:r>
            <a:r>
              <a:rPr lang="zh-CN" sz="2850" b="1">
                <a:solidFill>
                  <a:srgbClr val="0F172A"/>
                </a:solidFill>
              </a:rPr>
              <a:t>创始人</a:t>
            </a:r>
            <a:endParaRPr lang="zh-CN" sz="2850" b="1">
              <a:solidFill>
                <a:srgbClr val="0F172A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609600" y="2019300"/>
            <a:ext cx="10477500" cy="2667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050" i="1">
                <a:solidFill>
                  <a:srgbClr val="64748B"/>
                </a:solidFill>
              </a:defRPr>
            </a:pPr>
            <a:r>
              <a:rPr sz="1050" i="1">
                <a:solidFill>
                  <a:srgbClr val="64748B"/>
                </a:solidFill>
              </a:rPr>
              <a:t>Two things.</a:t>
            </a:r>
            <a:endParaRPr sz="1050" i="1">
              <a:solidFill>
                <a:srgbClr val="64748B"/>
              </a:solidFill>
            </a:endParaRPr>
          </a:p>
        </p:txBody>
      </p:sp>
      <p:sp>
        <p:nvSpPr>
          <p:cNvPr id="13" name="圆角矩形 12"/>
          <p:cNvSpPr>
            <a:spLocks noGrp="1"/>
          </p:cNvSpPr>
          <p:nvPr/>
        </p:nvSpPr>
        <p:spPr>
          <a:xfrm>
            <a:off x="695325" y="2715260"/>
            <a:ext cx="5524500" cy="2667000"/>
          </a:xfrm>
          <a:prstGeom prst="roundRect">
            <a:avLst>
              <a:gd name="adj" fmla="val 5714"/>
            </a:avLst>
          </a:prstGeom>
          <a:solidFill>
            <a:srgbClr val="FFFFFF"/>
          </a:solidFill>
          <a:ln w="9525">
            <a:solidFill>
              <a:srgbClr val="E2E8F0"/>
            </a:solidFill>
            <a:prstDash val="solid"/>
          </a:ln>
        </p:spPr>
      </p:sp>
      <p:sp>
        <p:nvSpPr>
          <p:cNvPr id="14" name="矩形 13"/>
          <p:cNvSpPr>
            <a:spLocks noGrp="1"/>
          </p:cNvSpPr>
          <p:nvPr/>
        </p:nvSpPr>
        <p:spPr>
          <a:xfrm>
            <a:off x="695325" y="2715260"/>
            <a:ext cx="5524500" cy="57150"/>
          </a:xfrm>
          <a:prstGeom prst="rect">
            <a:avLst/>
          </a:prstGeom>
          <a:solidFill>
            <a:srgbClr val="6D28D9"/>
          </a:solidFill>
          <a:ln w="0">
            <a:noFill/>
            <a:prstDash val="solid"/>
          </a:ln>
        </p:spPr>
      </p:sp>
      <p:sp>
        <p:nvSpPr>
          <p:cNvPr id="16" name="矩形 15"/>
          <p:cNvSpPr>
            <a:spLocks noGrp="1"/>
          </p:cNvSpPr>
          <p:nvPr/>
        </p:nvSpPr>
        <p:spPr>
          <a:xfrm>
            <a:off x="962025" y="3324860"/>
            <a:ext cx="4991100" cy="762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2850" b="1">
                <a:solidFill>
                  <a:srgbClr val="0F172A"/>
                </a:solidFill>
              </a:defRPr>
            </a:pPr>
            <a:r>
              <a:rPr lang="zh-CN" altLang="en-US">
                <a:sym typeface="+mn-ea"/>
              </a:rPr>
              <a:t>刘瑞超</a:t>
            </a:r>
            <a:endParaRPr lang="zh-CN" sz="2850" b="1">
              <a:solidFill>
                <a:srgbClr val="0F172A"/>
              </a:solidFill>
            </a:endParaRPr>
          </a:p>
        </p:txBody>
      </p:sp>
      <p:sp>
        <p:nvSpPr>
          <p:cNvPr id="17" name="矩形 16"/>
          <p:cNvSpPr>
            <a:spLocks noGrp="1"/>
          </p:cNvSpPr>
          <p:nvPr/>
        </p:nvSpPr>
        <p:spPr>
          <a:xfrm>
            <a:off x="962025" y="4201160"/>
            <a:ext cx="4991100" cy="9525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marL="171450" indent="-171450" algn="l">
              <a:lnSpc>
                <a:spcPct val="100000"/>
              </a:lnSpc>
              <a:buFont typeface="Arial" panose="020B0704020202020204" pitchFamily="34" charset="0"/>
              <a:buChar char="•"/>
              <a:defRPr/>
            </a:pPr>
            <a:r>
              <a:rPr lang="en-US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AI Native</a:t>
            </a:r>
            <a:r>
              <a:rPr lang="zh-CN" altLang="en-US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原生工程师</a:t>
            </a:r>
            <a:r>
              <a:rPr lang="en-US" altLang="zh-CN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，</a:t>
            </a:r>
            <a:r>
              <a:rPr lang="zh-CN" altLang="en-US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多家知名创业公司的技术骨干</a:t>
            </a:r>
            <a:r>
              <a:rPr lang="en-US" altLang="zh-CN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、</a:t>
            </a:r>
            <a:r>
              <a:rPr lang="zh-CN" altLang="en-US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创始成员</a:t>
            </a:r>
            <a:r>
              <a:rPr lang="en-US" altLang="zh-CN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。</a:t>
            </a:r>
            <a:br>
              <a:rPr lang="en-US" altLang="zh-CN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</a:br>
            <a:endParaRPr lang="en-US" altLang="zh-CN" sz="1125">
              <a:solidFill>
                <a:srgbClr val="667085"/>
              </a:solidFill>
              <a:latin typeface="Noto Sans SC" panose="020B0200000000000000" charset="-122"/>
              <a:ea typeface="Noto Sans SC" panose="020B0200000000000000" charset="-122"/>
              <a:cs typeface="Noto Sans SC" panose="020B0200000000000000" charset="-122"/>
              <a:sym typeface="Noto Sans SC" panose="020B0200000000000000" charset="-122"/>
            </a:endParaRPr>
          </a:p>
          <a:p>
            <a:pPr marL="171450" indent="-171450" algn="l">
              <a:lnSpc>
                <a:spcPct val="100000"/>
              </a:lnSpc>
              <a:buFont typeface="Arial" panose="020B0704020202020204" pitchFamily="34" charset="0"/>
              <a:buChar char="•"/>
              <a:defRPr/>
            </a:pPr>
            <a:r>
              <a:rPr lang="en-US" sz="1125">
                <a:solidFill>
                  <a:srgbClr val="667085"/>
                </a:solidFill>
                <a:latin typeface="Noto Sans SC" panose="020B0200000000000000" charset="-122"/>
                <a:ea typeface="Noto Sans SC" panose="020B0200000000000000" charset="-122"/>
                <a:cs typeface="Noto Sans SC" panose="020B0200000000000000" charset="-122"/>
                <a:sym typeface="Noto Sans SC" panose="020B0200000000000000" charset="-122"/>
              </a:rPr>
              <a:t>全栈技术专家，精通React/TS/Rust等前沿技术；独立主导完成项目从0到1开发，具备极强的技术落地与执行能力。</a:t>
            </a:r>
            <a:endParaRPr sz="1125">
              <a:solidFill>
                <a:srgbClr val="475569"/>
              </a:solidFill>
            </a:endParaRPr>
          </a:p>
        </p:txBody>
      </p:sp>
      <p:sp>
        <p:nvSpPr>
          <p:cNvPr id="20" name="矩形 19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94A3B8"/>
                </a:solidFill>
              </a:defRPr>
            </a:pPr>
            <a:r>
              <a:rPr sz="675">
                <a:solidFill>
                  <a:srgbClr val="94A3B8"/>
                </a:solidFill>
              </a:rPr>
              <a:t>DAILYFLOW · 2026</a:t>
            </a:r>
            <a:endParaRPr sz="675">
              <a:solidFill>
                <a:srgbClr val="94A3B8"/>
              </a:solidFill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E2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14" name="椭圆 13"/>
          <p:cNvSpPr>
            <a:spLocks noGrp="1"/>
          </p:cNvSpPr>
          <p:nvPr/>
        </p:nvSpPr>
        <p:spPr>
          <a:xfrm>
            <a:off x="2762250" y="1047750"/>
            <a:ext cx="6667500" cy="6667500"/>
          </a:xfrm>
          <a:prstGeom prst="ellipse">
            <a:avLst/>
          </a:prstGeom>
          <a:solidFill>
            <a:srgbClr val="C4B5FD">
              <a:alpha val="14000"/>
            </a:srgbClr>
          </a:solidFill>
          <a:ln w="0">
            <a:noFill/>
            <a:prstDash val="solid"/>
          </a:ln>
        </p:spPr>
      </p:sp>
      <p:sp>
        <p:nvSpPr>
          <p:cNvPr id="2" name="椭圆 1"/>
          <p:cNvSpPr>
            <a:spLocks noGrp="1"/>
          </p:cNvSpPr>
          <p:nvPr/>
        </p:nvSpPr>
        <p:spPr>
          <a:xfrm>
            <a:off x="533400" y="361950"/>
            <a:ext cx="76200" cy="76200"/>
          </a:xfrm>
          <a:prstGeom prst="ellipse">
            <a:avLst/>
          </a:prstGeom>
          <a:solidFill>
            <a:srgbClr val="C4B5FD"/>
          </a:solidFill>
          <a:ln w="0">
            <a:noFill/>
            <a:prstDash val="solid"/>
          </a:ln>
        </p:spPr>
      </p:sp>
      <p:sp>
        <p:nvSpPr>
          <p:cNvPr id="4" name="矩形 3"/>
          <p:cNvSpPr>
            <a:spLocks noGrp="1"/>
          </p:cNvSpPr>
          <p:nvPr/>
        </p:nvSpPr>
        <p:spPr>
          <a:xfrm>
            <a:off x="10287000" y="266700"/>
            <a:ext cx="1371600" cy="2286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 algn="r">
              <a:defRPr sz="750" b="1">
                <a:solidFill>
                  <a:srgbClr val="FFFFFF">
                    <a:alpha val="40000"/>
                  </a:srgbClr>
                </a:solidFill>
              </a:defRPr>
            </a:pPr>
            <a:r>
              <a:rPr sz="750" b="1">
                <a:solidFill>
                  <a:srgbClr val="FFFFFF">
                    <a:alpha val="40000"/>
                  </a:srgbClr>
                </a:solidFill>
              </a:rPr>
              <a:t>DAILYFLOW · 2026</a:t>
            </a:r>
            <a:endParaRPr sz="750" b="1">
              <a:solidFill>
                <a:srgbClr val="FFFFFF">
                  <a:alpha val="40000"/>
                </a:srgbClr>
              </a:solidFill>
            </a:endParaRPr>
          </a:p>
        </p:txBody>
      </p:sp>
      <p:sp>
        <p:nvSpPr>
          <p:cNvPr id="5" name="矩形 4"/>
          <p:cNvSpPr>
            <a:spLocks noGrp="1"/>
          </p:cNvSpPr>
          <p:nvPr/>
        </p:nvSpPr>
        <p:spPr>
          <a:xfrm>
            <a:off x="914400" y="1905000"/>
            <a:ext cx="10363200" cy="15240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3000">
                <a:solidFill>
                  <a:srgbClr val="FFFFFF"/>
                </a:solidFill>
              </a:defRPr>
            </a:pPr>
            <a:r>
              <a:rPr sz="3000">
                <a:solidFill>
                  <a:srgbClr val="FFFFFF"/>
                </a:solidFill>
              </a:rPr>
              <a:t>AI 时代，每个人都需要一个</a:t>
            </a:r>
            <a:endParaRPr sz="3000">
              <a:solidFill>
                <a:srgbClr val="FFFFFF"/>
              </a:solidFill>
            </a:endParaRPr>
          </a:p>
        </p:txBody>
      </p:sp>
      <p:sp>
        <p:nvSpPr>
          <p:cNvPr id="6" name="矩形 5"/>
          <p:cNvSpPr>
            <a:spLocks noGrp="1"/>
          </p:cNvSpPr>
          <p:nvPr/>
        </p:nvSpPr>
        <p:spPr>
          <a:xfrm>
            <a:off x="914400" y="2552700"/>
            <a:ext cx="10363200" cy="10477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300" b="1">
                <a:solidFill>
                  <a:srgbClr val="C4B5FD"/>
                </a:solidFill>
              </a:defRPr>
            </a:pPr>
            <a:r>
              <a:rPr sz="6300" b="1">
                <a:solidFill>
                  <a:srgbClr val="C4B5FD"/>
                </a:solidFill>
              </a:rPr>
              <a:t>自己的 资产基地.</a:t>
            </a:r>
            <a:endParaRPr sz="6300" b="1">
              <a:solidFill>
                <a:srgbClr val="C4B5FD"/>
              </a:solidFill>
            </a:endParaRPr>
          </a:p>
        </p:txBody>
      </p:sp>
      <p:sp>
        <p:nvSpPr>
          <p:cNvPr id="7" name="矩形 6"/>
          <p:cNvSpPr>
            <a:spLocks noGrp="1"/>
          </p:cNvSpPr>
          <p:nvPr/>
        </p:nvSpPr>
        <p:spPr>
          <a:xfrm>
            <a:off x="914400" y="3771900"/>
            <a:ext cx="10363200" cy="3429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 i="1">
                <a:solidFill>
                  <a:srgbClr val="FFFFFF">
                    <a:alpha val="55000"/>
                  </a:srgbClr>
                </a:solidFill>
              </a:defRPr>
            </a:pPr>
            <a:r>
              <a:rPr sz="1350" i="1">
                <a:solidFill>
                  <a:srgbClr val="FFFFFF">
                    <a:alpha val="55000"/>
                  </a:srgbClr>
                </a:solidFill>
              </a:rPr>
              <a:t>In the AI era, everyone needs a base of their own.</a:t>
            </a:r>
            <a:endParaRPr sz="1350" i="1">
              <a:solidFill>
                <a:srgbClr val="FFFFFF">
                  <a:alpha val="55000"/>
                </a:srgbClr>
              </a:solidFill>
            </a:endParaRPr>
          </a:p>
        </p:txBody>
      </p:sp>
      <p:sp>
        <p:nvSpPr>
          <p:cNvPr id="8" name="矩形 7"/>
          <p:cNvSpPr>
            <a:spLocks noGrp="1"/>
          </p:cNvSpPr>
          <p:nvPr/>
        </p:nvSpPr>
        <p:spPr>
          <a:xfrm>
            <a:off x="914400" y="4343400"/>
            <a:ext cx="10363200" cy="83820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1350">
                <a:solidFill>
                  <a:srgbClr val="FFFFFF">
                    <a:alpha val="75000"/>
                  </a:srgbClr>
                </a:solidFill>
              </a:defRPr>
            </a:pPr>
            <a:r>
              <a:rPr lang="zh-CN" altLang="en-US" sz="1350">
                <a:solidFill>
                  <a:srgbClr val="FFFFFF">
                    <a:alpha val="75000"/>
                  </a:srgbClr>
                </a:solidFill>
              </a:rPr>
              <a:t>数据在你这里，规则由你定，</a:t>
            </a:r>
            <a:r>
              <a:rPr lang="en-US" altLang="zh-CN" sz="1350">
                <a:solidFill>
                  <a:srgbClr val="FFFFFF">
                    <a:alpha val="75000"/>
                  </a:srgbClr>
                </a:solidFill>
              </a:rPr>
              <a:t>AI </a:t>
            </a:r>
            <a:r>
              <a:rPr lang="zh-CN" altLang="en-US" sz="1350">
                <a:solidFill>
                  <a:srgbClr val="FFFFFF">
                    <a:alpha val="75000"/>
                  </a:srgbClr>
                </a:solidFill>
              </a:rPr>
              <a:t>为你工作。这就是 </a:t>
            </a:r>
            <a:r>
              <a:rPr lang="en-US" altLang="zh-CN" sz="1350">
                <a:solidFill>
                  <a:srgbClr val="FFFFFF">
                    <a:alpha val="75000"/>
                  </a:srgbClr>
                </a:solidFill>
              </a:rPr>
              <a:t>DailyFlow。</a:t>
            </a:r>
            <a:endParaRPr lang="en-US" altLang="zh-CN" sz="1350">
              <a:solidFill>
                <a:srgbClr val="FFFFFF">
                  <a:alpha val="75000"/>
                </a:srgbClr>
              </a:solidFill>
            </a:endParaRPr>
          </a:p>
        </p:txBody>
      </p:sp>
      <p:sp>
        <p:nvSpPr>
          <p:cNvPr id="11" name="矩形 10"/>
          <p:cNvSpPr>
            <a:spLocks noGrp="1"/>
          </p:cNvSpPr>
          <p:nvPr/>
        </p:nvSpPr>
        <p:spPr>
          <a:xfrm>
            <a:off x="609600" y="6457950"/>
            <a:ext cx="7620000" cy="209550"/>
          </a:xfrm>
          <a:prstGeom prst="rect">
            <a:avLst/>
          </a:prstGeom>
          <a:noFill/>
          <a:ln w="0">
            <a:noFill/>
            <a:prstDash val="solid"/>
          </a:ln>
        </p:spPr>
        <p:txBody>
          <a:bodyPr/>
          <a:lstStyle/>
          <a:p>
            <a:pPr>
              <a:defRPr sz="675">
                <a:solidFill>
                  <a:srgbClr val="FFFFFF">
                    <a:alpha val="40000"/>
                  </a:srgbClr>
                </a:solidFill>
              </a:defRPr>
            </a:pPr>
            <a:r>
              <a:rPr sz="675">
                <a:solidFill>
                  <a:srgbClr val="FFFFFF">
                    <a:alpha val="40000"/>
                  </a:srgbClr>
                </a:solidFill>
              </a:rPr>
              <a:t>DAILYFLOW · ROADSHOW 2026</a:t>
            </a:r>
            <a:endParaRPr sz="675">
              <a:solidFill>
                <a:srgbClr val="FFFFFF">
                  <a:alpha val="40000"/>
                </a:srgbClr>
              </a:solidFill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3831</Words>
  <Application>WPS 演示</Application>
  <PresentationFormat>Converted Presentation</PresentationFormat>
  <Paragraphs>451</Paragraphs>
  <Slides>14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14</vt:i4>
      </vt:variant>
    </vt:vector>
  </HeadingPairs>
  <TitlesOfParts>
    <vt:vector size="29" baseType="lpstr">
      <vt:lpstr>Arial</vt:lpstr>
      <vt:lpstr>宋体</vt:lpstr>
      <vt:lpstr>Wingdings</vt:lpstr>
      <vt:lpstr>Calibri</vt:lpstr>
      <vt:lpstr>Helvetica Neue</vt:lpstr>
      <vt:lpstr>宋体</vt:lpstr>
      <vt:lpstr>汉仪书宋二KW</vt:lpstr>
      <vt:lpstr>微软雅黑</vt:lpstr>
      <vt:lpstr>方正雅意黑 GB18030L2</vt:lpstr>
      <vt:lpstr>Arial Unicode MS</vt:lpstr>
      <vt:lpstr>MS PGothic</vt:lpstr>
      <vt:lpstr>苹方-简</vt:lpstr>
      <vt:lpstr>宋体-简</vt:lpstr>
      <vt:lpstr>Noto Sans SC</vt:lpstr>
      <vt:lpstr>ChatGPT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Frank</cp:lastModifiedBy>
  <cp:revision>36</cp:revision>
  <dcterms:created xsi:type="dcterms:W3CDTF">2026-08-19T17:45:49Z</dcterms:created>
  <dcterms:modified xsi:type="dcterms:W3CDTF">2026-08-19T17:45:49Z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2052-12.1.26046.26046</vt:lpwstr>
  </property>
  <property fmtid="{D5CDD505-2E9C-101B-9397-08002B2CF9AE}" pid="3" name="ICV">
    <vt:lpwstr>D0F470A220BCA82A2CDF856A1960D33B_42</vt:lpwstr>
  </property>
</Properties>
</file>